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Tahoma"/>
              </a:defRPr>
            </a:pPr>
            <a:r>
              <a:t>โครงงานปัญญาประดิษฐ์และการเรียนรู้ของเครื่อง (AI &amp; Computer Vision Project)</a:t>
            </a:r>
          </a:p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  <a:latin typeface="Tahoma"/>
              </a:defRPr>
            </a:pPr>
            <a:r>
              <a:t>Before You Leave:</a:t>
            </a:r>
            <a:br/>
            <a:r>
              <a:t>AI-Powered Personal Belongings Detection System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Tahoma"/>
              </a:defRPr>
            </a:pPr>
            <a:r>
              <a:t>ระบบตรวจจับของใช้ส่วนตัวก่อนออกจากสถานที่ด้วยปัญญาประดิษฐ์และระบบยืนยันรายการตรวจสอบ</a:t>
            </a:r>
          </a:p>
          <a:p>
            <a:pPr>
              <a:spcAft>
                <a:spcPts val="2000"/>
              </a:spcAft>
              <a:defRPr sz="1300" i="1">
                <a:solidFill>
                  <a:srgbClr val="94A3B8"/>
                </a:solidFill>
                <a:latin typeface="Tahoma"/>
              </a:defRPr>
            </a:pPr>
            <a:r>
              <a:t>สโลแกน: "Leave nothing behind. Let AI help you double-check."</a:t>
            </a:r>
          </a:p>
          <a:p>
            <a:pPr>
              <a:defRPr sz="1200">
                <a:solidFill>
                  <a:srgbClr val="E2E8F0"/>
                </a:solidFill>
                <a:latin typeface="Tahoma"/>
              </a:defRPr>
            </a:pPr>
            <a:r>
              <a:t>กลุ่มผู้พัฒนา: Scuba</a:t>
            </a:r>
            <a:br/>
            <a:r>
              <a:t>1. Panyasiri Kiattiphumvarakun (116710905066-2)</a:t>
            </a:r>
            <a:br/>
            <a:r>
              <a:t>2. Phuwanai Khuyjad (116710905064-7)</a:t>
            </a:r>
            <a:br/>
            <a:r>
              <a:t>3. Worawut Phuangmalai (116710905077-9)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EXECUTIVE SUMMARY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บทนำและที่มาของปัญหาในชีวิตประจำวัน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38BDF8"/>
                </a:solidFill>
                <a:latin typeface="Tahoma"/>
              </a:defRPr>
            </a:pPr>
            <a:r>
              <a:t>93.1%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mAP@0.5 Detection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Tahoma"/>
              </a:defRPr>
            </a:pPr>
            <a:r>
              <a:t>&lt; 30 ms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Real-Time Inference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F59E0B"/>
                </a:solidFill>
                <a:latin typeface="Tahoma"/>
              </a:defRPr>
            </a:pPr>
            <a:r>
              <a:t>9 Classes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Essential Belongings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A855F7"/>
                </a:solidFill>
                <a:latin typeface="Tahoma"/>
              </a:defRPr>
            </a:pPr>
            <a:r>
              <a:t>1,200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Annotated Image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52120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15184"/>
            <a:ext cx="4754880" cy="3456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43F5E"/>
                </a:solidFill>
                <a:latin typeface="Tahoma"/>
              </a:defRPr>
            </a:pPr>
            <a:r>
              <a:t>1. ปัญหาการลืมของ (Human Error Problem)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พฤติกรรมในชีวิตประจำวัน:</a:t>
            </a:r>
            <a:r>
              <a:rPr sz="1000">
                <a:solidFill>
                  <a:srgbClr val="E2E8F0"/>
                </a:solidFill>
                <a:latin typeface="Tahoma"/>
              </a:rPr>
              <a:t> นักศึกษาและคนทำงานต้องเปลี่ยนสถานที่บ่อยครั้ง (ห้องเรียน, ห้องสมุด, คาเฟ่, หอพัก)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ข้อจำกัดของสายตามนุษย์:</a:t>
            </a:r>
            <a:r>
              <a:rPr sz="1000">
                <a:solidFill>
                  <a:srgbClr val="E2E8F0"/>
                </a:solidFill>
                <a:latin typeface="Tahoma"/>
              </a:rPr>
              <a:t> ในชั่วโมงเร่งรีบหรือเมื่อมีสิ่งรบกวน มักมองข้ามของที่วางราบหรือถูกบดบังบางส่วน เช่น บัตรนักศึกษาใต้สมุด หรือสายชาร์จตกอยู่มุมโต๊ะ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ความเสียหายและผลกระทบ:</a:t>
            </a:r>
            <a:r>
              <a:rPr sz="1000">
                <a:solidFill>
                  <a:srgbClr val="E2E8F0"/>
                </a:solidFill>
                <a:latin typeface="Tahoma"/>
              </a:rPr>
              <a:t> เสียเวลาและค่าเดินทางย้อนกลับไปค้นหา, เสี่ยงต่อการถูกขโมย, และเสียค่าธรรมเนียมในการออกบัตร/กุญแจใหม่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ความจำเป็นของ AI:</a:t>
            </a:r>
            <a:r>
              <a:rPr sz="1000">
                <a:solidFill>
                  <a:srgbClr val="E2E8F0"/>
                </a:solidFill>
                <a:latin typeface="Tahoma"/>
              </a:rPr>
              <a:t> ต้องการระบบตรวจทานอัตโนมัติ (Second Opinion) ที่แม่นยำและรวดเร็วเสร็จในไม่กี่วินาที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212080" cy="374903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15184"/>
            <a:ext cx="4754880" cy="3456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2. ทางออกด้วยระบบ Before You Leave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One-Shot Photo Check:</a:t>
            </a:r>
            <a:r>
              <a:rPr sz="1000">
                <a:solidFill>
                  <a:srgbClr val="E2E8F0"/>
                </a:solidFill>
                <a:latin typeface="Tahoma"/>
              </a:rPr>
              <a:t> เพียงยกสมาร์ตโฟนถ่ายภาพโต๊ะทำงานหรือเตียง 1 ภาพก่อนลุกออกจากห้อง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AI Computer Vision:</a:t>
            </a:r>
            <a:r>
              <a:rPr sz="1000">
                <a:solidFill>
                  <a:srgbClr val="E2E8F0"/>
                </a:solidFill>
                <a:latin typeface="Tahoma"/>
              </a:rPr>
              <a:t> ประมวลผลระบุพิกัด (Bounding Box) และคัดกรองชนิดสิ่งของแบบ Real-Time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Checklist Verification:</a:t>
            </a:r>
            <a:r>
              <a:rPr sz="1000">
                <a:solidFill>
                  <a:srgbClr val="E2E8F0"/>
                </a:solidFill>
                <a:latin typeface="Tahoma"/>
              </a:rPr>
              <a:t> เปรียบเทียบสิ่งของที่ตรวจพบกับรายการที่ผู้ใช้เลือกไว้ในระบบ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Proactive Warning Banner:</a:t>
            </a:r>
            <a:r>
              <a:rPr sz="1000">
                <a:solidFill>
                  <a:srgbClr val="E2E8F0"/>
                </a:solidFill>
                <a:latin typeface="Tahoma"/>
              </a:rPr>
              <a:t> แจ้งเตือนสิ่งของที่ 'ยังไม่พบ' ทันที ป้องกันการลืมสิ่งของสำคัญได้อย่างเด็ดขาด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Zero Hardware Cost:</a:t>
            </a:r>
            <a:r>
              <a:rPr sz="1000">
                <a:solidFill>
                  <a:srgbClr val="E2E8F0"/>
                </a:solidFill>
                <a:latin typeface="Tahoma"/>
              </a:rPr>
              <a:t> ใช้งานผ่านเว็บแอปพลิเคชันได้ทันที ไม่ต้องซื้อแท็ก Bluetooth (เช่น AirTag/RFID) ติดของทุกชิ้น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TARGET SCOPE &amp;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ขอบเขตการทำงานและรายการสิ่งของ 9 หมวดหมู่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2377440"/>
                <a:gridCol w="5303520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หมวดหมู่สิ่งของ (Class)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ไอคอน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ชื่อภาษาไทย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ลักษณะทางกายภาพที่ตรวจจับ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📱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โทรศัพท์มือถือ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ทรงสี่เหลี่ยมผืนผ้าแนวยาว อัตราส่วน 1.5 - 2.6 จอดำ/สะท้อนแสง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iPad / Tablet / Laptop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💻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ไอแพด / แท็บเล็ต / แล็ปท็อป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หน้าจอสี่เหลี่ยมขนาดกลางถึงใหญ่ อัตราส่วน 1.0 - 1.95 พื้นที่ 2% - 45%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Notebook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สมุดบันทึก / หนังสือ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รูปทรงสี่เหลี่ยมแบนราบ สันเล่มชัดเจน ลวดลายและสีสันหลากหลาย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Charger / Cable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สายชาร์จ / อะแดปเตอร์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หัวปลั๊กทรงสี่เหลี่ยมขนาดเล็ก และสายไฟขดลวด (Coiled Loops)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Wired Earphones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🎧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หูฟังแบบสาย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สายไฟเส้นบางสีขาว/ดำ เชื่อมต่อกับตัวขับเสียงสองข้าง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Wireless Earbuds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หูฟังไร้สาย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ตลับเคสชาร์จทรงก้อนหินขนาดกะทัดรัด (Pebble-shaped) พื้นที่ &lt; 1.6%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👛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กระเป๋าสตางค์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หนัง/ผ้าทรงสี่เหลี่ยมผับ พื้นที่ขนาดเล็กบนโต๊ะ (&lt; 4.2%)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พวงกุญแจ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วัสดุโลหะสะท้อนแสง รูปทรงอิสระพร้อมห่วงกุญแจ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🪪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บัตรนักศึกษา / การ์ด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บัตรแข็งพลาสติกทรงสี่เหลี่ยมผืนผ้ามาตรฐาน (ID-1) ขอบตัดมน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สถาปัตยกรรม Computer Vision: Ultralytics YOLOv8s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1. Backbone &amp; Neck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Modified CSPDarknet53:</a:t>
            </a:r>
            <a:r>
              <a:rPr sz="1000">
                <a:solidFill>
                  <a:srgbClr val="E2E8F0"/>
                </a:solidFill>
                <a:latin typeface="Tahoma"/>
              </a:rPr>
              <a:t> สกัดคุณลักษณะ (Feature Extraction) หลากหลายสเกลความละเอียด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C2f Modules:</a:t>
            </a:r>
            <a:r>
              <a:rPr sz="1000">
                <a:solidFill>
                  <a:srgbClr val="E2E8F0"/>
                </a:solidFill>
                <a:latin typeface="Tahoma"/>
              </a:rPr>
              <a:t> ผสาน Cross Stage Partial เข้ากับ Split-and-Concatenate เพื่อเพิ่ม Gradient Flow และลดภาระคำนวณ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FPN + PANet:</a:t>
            </a:r>
            <a:r>
              <a:rPr sz="1000">
                <a:solidFill>
                  <a:srgbClr val="E2E8F0"/>
                </a:solidFill>
                <a:latin typeface="Tahoma"/>
              </a:rPr>
              <a:t> ผสาน Low-level detail (สำหรับบัตร/กุญแจชิ้นเล็ก) เข้ากับ High-level semantic context (สำหรับแล็ปท็อป/สมุด)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SPPF (Spatial Pyramid Pooling Fast):</a:t>
            </a:r>
            <a:r>
              <a:rPr sz="1000">
                <a:solidFill>
                  <a:srgbClr val="E2E8F0"/>
                </a:solidFill>
                <a:latin typeface="Tahoma"/>
              </a:rPr>
              <a:t> รวบรวมข้อมูลบริบทภาพกว้างด้วยเวลาคำนวณต่ำสุด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59E0B"/>
                </a:solidFill>
                <a:latin typeface="Tahoma"/>
              </a:defRPr>
            </a:pPr>
            <a:r>
              <a:t>2. Anchor-Free Head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Decoupled Head:</a:t>
            </a:r>
            <a:r>
              <a:rPr sz="1000">
                <a:solidFill>
                  <a:srgbClr val="E2E8F0"/>
                </a:solidFill>
                <a:latin typeface="Tahoma"/>
              </a:rPr>
              <a:t> แยกงาน Classification (ชนิดวัตถุ) และ Bounding Box Regression ออกจากกันอย่างอิสระ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Anchor-Free Paradigm:</a:t>
            </a:r>
            <a:r>
              <a:rPr sz="1000">
                <a:solidFill>
                  <a:srgbClr val="E2E8F0"/>
                </a:solidFill>
                <a:latin typeface="Tahoma"/>
              </a:rPr>
              <a:t> ทายจุดกึ่งกลางและระยะขอบโดยตรง ไม่ต้องพึ่งพากล่องสมมติ (Anchor Boxes) ทำให้ตรวจจับบัตรและกุญแจทรงอิสระได้แม่นยำขึ้นมาก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CIoU + DFL Loss:</a:t>
            </a:r>
            <a:r>
              <a:rPr sz="1000">
                <a:solidFill>
                  <a:srgbClr val="E2E8F0"/>
                </a:solidFill>
                <a:latin typeface="Tahoma"/>
              </a:rPr>
              <a:t> ใช้ Complete IoU และ Distribution Focal Loss ปรับแต่งกรอบ Bounding Box ให้แนบสนิทกับตัววัตถุ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BCE Loss:</a:t>
            </a:r>
            <a:r>
              <a:rPr sz="1000">
                <a:solidFill>
                  <a:srgbClr val="E2E8F0"/>
                </a:solidFill>
                <a:latin typeface="Tahoma"/>
              </a:rPr>
              <a:t> ควบคุมการจำแนกคลาสอย่างแม่นยำ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3. Inference &amp; Speed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YOLOv8s Lightweight Profile:</a:t>
            </a:r>
            <a:r>
              <a:rPr sz="1000">
                <a:solidFill>
                  <a:srgbClr val="E2E8F0"/>
                </a:solidFill>
                <a:latin typeface="Tahoma"/>
              </a:rPr>
              <a:t> มีพารามิเตอร์เพียง ~11.2M พารามิเตอร์ (ขนาดไฟล์ 22.5 MB)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Inference Speed:</a:t>
            </a:r>
            <a:r>
              <a:rPr sz="1000">
                <a:solidFill>
                  <a:srgbClr val="E2E8F0"/>
                </a:solidFill>
                <a:latin typeface="Tahoma"/>
              </a:rPr>
              <a:t> เร็วระดับ Real-Time ต่ำกว่า 30 ms บน GPU และ ~100 ms บน CPU ธรรมดา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Confidence Thresholding:</a:t>
            </a:r>
            <a:r>
              <a:rPr sz="1000">
                <a:solidFill>
                  <a:srgbClr val="E2E8F0"/>
                </a:solidFill>
                <a:latin typeface="Tahoma"/>
              </a:rPr>
              <a:t> ตั้งค่าเริ่มต้นที่ 0.45 พร้อมแถบ Slider ให้ผู้ใช้ปรับได้ยืดหยุ่นระหว่าง 0.20 – 0.90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Cloud Ready:</a:t>
            </a:r>
            <a:r>
              <a:rPr sz="1000">
                <a:solidFill>
                  <a:srgbClr val="E2E8F0"/>
                </a:solidFill>
                <a:latin typeface="Tahoma"/>
              </a:rPr>
              <a:t> ทำงานบน Streamlit Cloud ได้เสถียรและราบรื่นโดยไม่ต้องใช้การ์ดจอราคาแพง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SPECIALIZED COMPUTER VISION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ระบบคัดกรองขนาดและสัดส่วนทางกายภาพ (Geometry Validation)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การขจัด False Positives ด้วยมิติกายภาพจริง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สูตรคำนวณ:</a:t>
            </a:r>
            <a:r>
              <a:rPr sz="1000">
                <a:solidFill>
                  <a:srgbClr val="E2E8F0"/>
                </a:solidFill>
                <a:latin typeface="Tahoma"/>
              </a:rPr>
              <a:t> Area Ratio = (Box_W × Box_H) / (Img_W × Img_H)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Aspect Ratio:</a:t>
            </a:r>
            <a:r>
              <a:rPr sz="1000">
                <a:solidFill>
                  <a:srgbClr val="E2E8F0"/>
                </a:solidFill>
                <a:latin typeface="Tahoma"/>
              </a:rPr>
              <a:t> สัดส่วนด้านยาวต่อด้านสั้น = max(w,h) / min(w,h)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ป้องกันเสื้อผ้าถูกทายผิดเป็นกระเป๋าสตางค์ (Wallet):</a:t>
            </a:r>
            <a:r>
              <a:rPr sz="1000">
                <a:solidFill>
                  <a:srgbClr val="E2E8F0"/>
                </a:solidFill>
                <a:latin typeface="Tahoma"/>
              </a:rPr>
              <a:t> กำหนดพื้นที่ภาพต้องไม่เกิน 4.2% และ Aspect Ratio &lt;= 2.3 ป้องกันเสื้อแจ็กเกต, เสื้อกันหนาว หรือหมวกไหมพรมตกเป็นเป้าหมาย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ป้องกันเมาส์/รีโมตถูกทายผิดเป็นหูฟัง (Earbuds):</a:t>
            </a:r>
            <a:r>
              <a:rPr sz="1000">
                <a:solidFill>
                  <a:srgbClr val="E2E8F0"/>
                </a:solidFill>
                <a:latin typeface="Tahoma"/>
              </a:rPr>
              <a:t> กล่องเคส AirPods ต้องมีพื้นที่ &lt;= 1.6% และ Aspect Ratio &lt;= 1.65 เท่านั้น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ป้องกันซองทิชชู่ถูกทายผิดเป็นมือถือ (Phone):</a:t>
            </a:r>
            <a:r>
              <a:rPr sz="1000">
                <a:solidFill>
                  <a:srgbClr val="E2E8F0"/>
                </a:solidFill>
                <a:latin typeface="Tahoma"/>
              </a:rPr>
              <a:t> กำหนด Confidence &gt;= 0.65 และ Aspect Ratio แนวยาว 1.45 – 2.6 เพื่อจับเฉพาะสมาร์ตโฟนจริง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กรองขนาดแท็บเล็ตและแล็ปท็อป (iPad/Laptop):</a:t>
            </a:r>
            <a:r>
              <a:rPr sz="1000">
                <a:solidFill>
                  <a:srgbClr val="E2E8F0"/>
                </a:solidFill>
                <a:latin typeface="Tahoma"/>
              </a:rPr>
              <a:t> รองรับพื้นที่ 2.0% – 45.0% และ Aspect Ratio 1.00 – 1.95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59E0B"/>
                </a:solidFill>
                <a:latin typeface="Tahoma"/>
              </a:defRPr>
            </a:pPr>
            <a:r>
              <a:t>ระบบ NMS และการระงับการซ้อนทับ (Containment)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IoU Non-Maximum Suppression (0.40):</a:t>
            </a:r>
            <a:r>
              <a:rPr sz="1000">
                <a:solidFill>
                  <a:srgbClr val="E2E8F0"/>
                </a:solidFill>
                <a:latin typeface="Tahoma"/>
              </a:rPr>
              <a:t> หากคลาสเดียวกันตีกรอบซ้อนทับกันเกิน 40% ระบบจะคัดกรองเฉพาะกรอบที่มีค่า Confidence สูงสุดไว้เพียงกรอบเดียว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False-Positive Containment Suppression:</a:t>
            </a:r>
            <a:r>
              <a:rPr sz="1000">
                <a:solidFill>
                  <a:srgbClr val="E2E8F0"/>
                </a:solidFill>
                <a:latin typeface="Tahoma"/>
              </a:rPr>
              <a:t> แก้ปัญหาวัตถุปลอมที่เกิดขึ้น 'ภายใน' จอแล็ปท็อปหรือบนหน้าสมุด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ตัวอย่าง:</a:t>
            </a:r>
            <a:r>
              <a:rPr sz="1000">
                <a:solidFill>
                  <a:srgbClr val="E2E8F0"/>
                </a:solidFill>
                <a:latin typeface="Tahoma"/>
              </a:rPr>
              <a:t> สติกเกอร์หรือไอคอนบนจอแล็ปท็อปที่บางครั้ง AI สับสนว่าเป็นบัตรหรือกระเป๋า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เงื่อนไข Containment:</a:t>
            </a:r>
            <a:r>
              <a:rPr sz="1000">
                <a:solidFill>
                  <a:srgbClr val="E2E8F0"/>
                </a:solidFill>
                <a:latin typeface="Tahoma"/>
              </a:rPr>
              <a:t> หากพื้นที่ตัดทับของวัตถุขนาดเล็กอยู่ภายในกรอบของ iPad/Laptop หรือ Notebook เกิน 50% ระบบจะตัดกรอบวัตถุขนาดเล็กนั้นทิ้งทันที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ผลลัพธ์:</a:t>
            </a:r>
            <a:r>
              <a:rPr sz="1000">
                <a:solidFill>
                  <a:srgbClr val="E2E8F0"/>
                </a:solidFill>
                <a:latin typeface="Tahoma"/>
              </a:rPr>
              <a:t> ตรวจจับวัตถุจริงได้อย่างแม่นยำ กรอบไม่ซ้อนทับ และไม่เกิดการรายงานซ้ำซ้อน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HYBRID VISION FOR CABLES &amp; CHARGERS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การตรวจจับสายชาร์จและอะแดปเตอร์ด้วย Hybrid OpenCV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43F5E"/>
                </a:solidFill>
                <a:latin typeface="Tahoma"/>
              </a:defRPr>
            </a:pPr>
            <a:r>
              <a:t>ข้อจำกัดของโมเดล COCO ดั้งเดิม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ปัญหาคลาสหาย:</a:t>
            </a:r>
            <a:r>
              <a:rPr sz="1000">
                <a:solidFill>
                  <a:srgbClr val="E2E8F0"/>
                </a:solidFill>
                <a:latin typeface="Tahoma"/>
              </a:rPr>
              <a:t> โมเดลมาตรฐาน COCO ไม่มีคลาส 'Charger' หรือ 'Cable' โดยตรง ทำให้ภาพสายชาร์จมักถูกมองข้ามหรือตรวจไม่พบ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ความสับสนกับเมาส์คอมพิวเตอร์:</a:t>
            </a:r>
            <a:r>
              <a:rPr sz="1000">
                <a:solidFill>
                  <a:srgbClr val="E2E8F0"/>
                </a:solidFill>
                <a:latin typeface="Tahoma"/>
              </a:rPr>
              <a:t> หัวชาร์จ Wall Adapter สีขาว (เช่น ปลั๊ก Apple/Anker) โมเดล COCO มักมองเป็น 'mouse' (50% confidence)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การ Mapping เชิงมิติ:</a:t>
            </a:r>
            <a:r>
              <a:rPr sz="1000">
                <a:solidFill>
                  <a:srgbClr val="E2E8F0"/>
                </a:solidFill>
                <a:latin typeface="Tahoma"/>
              </a:rPr>
              <a:t> ระบบตรวจสอบหากพบเมาส์ขนาดเล็กที่มีรูปทรงบล็อกสี่เหลี่ยม (Aspect Ratio &lt; 1.6, Area &lt; 2.5%) จะแปลงคลาสเป็น 'Charger / Cable' ทันที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ผลลัพธ์:</a:t>
            </a:r>
            <a:r>
              <a:rPr sz="1000">
                <a:solidFill>
                  <a:srgbClr val="E2E8F0"/>
                </a:solidFill>
                <a:latin typeface="Tahoma"/>
              </a:rPr>
              <a:t> ตรวจจับหัวชาร์จติดผนังและอะแดปเตอร์แปลงไฟได้ถูกต้องโดยอัตโนมัติ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อัลกอริทึมวิเคราะห์สายไฟขดลวด (Coiled Wire Texture)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Connected Components Analysis:</a:t>
            </a:r>
            <a:r>
              <a:rPr sz="1000">
                <a:solidFill>
                  <a:srgbClr val="E2E8F0"/>
                </a:solidFill>
                <a:latin typeface="Tahoma"/>
              </a:rPr>
              <a:t> ใช้ cv2.connectedComponentsWithStats สแกนหากลุ่มวัตถุสีเข้ม (Dark Power Bricks &amp; Wires)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Morphological Operations:</a:t>
            </a:r>
            <a:r>
              <a:rPr sz="1000">
                <a:solidFill>
                  <a:srgbClr val="E2E8F0"/>
                </a:solidFill>
                <a:latin typeface="Tahoma"/>
              </a:rPr>
              <a:t> กรอง Noise ด้วย Morphological Opening (Kernel 3x3) เชื่อมต่อเส้นสายไฟ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Canny Edge Gradient Density:</a:t>
            </a:r>
            <a:r>
              <a:rPr sz="1000">
                <a:solidFill>
                  <a:srgbClr val="E2E8F0"/>
                </a:solidFill>
                <a:latin typeface="Tahoma"/>
              </a:rPr>
              <a:t> คำนวณความหนาแน่นของเส้นขอบวนลูป (&gt;= 0.22) ซึ่งเป็นเอกลักษณ์ทางกายภาพของสายไฟที่ขดเป็นวง (Coiled Cables)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Bright Label Filter:</a:t>
            </a:r>
            <a:r>
              <a:rPr sz="1000">
                <a:solidFill>
                  <a:srgbClr val="E2E8F0"/>
                </a:solidFill>
                <a:latin typeface="Tahoma"/>
              </a:rPr>
              <a:t> วิเคราะห์สัดส่วนความสว่าง (&gt;= 0.35) ของสติ๊กเกอร์สเปกบนหม้อแปลงชาร์จ แยกแยะสายชาร์จออกจากเนื้อผ้าถุงมือไหมพรมได้อย่างสมบูรณ์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IoU Deduplication:</a:t>
            </a:r>
            <a:r>
              <a:rPr sz="1000">
                <a:solidFill>
                  <a:srgbClr val="E2E8F0"/>
                </a:solidFill>
                <a:latin typeface="Tahoma"/>
              </a:rPr>
              <a:t> ตรวจสอบไม่ให้กรอบสายชาร์จไปทับซ้อนกับแล็ปท็อปหรือสมุดที่ตรวจพบไปแล้ว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DATASET ENGINEERING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ข้อมูลการเทรนโมเดลและที่มาของชุดข้อมูล (Dataset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1. แหล่งที่มาของข้อมูล (Data Sources)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Self-Collected Images (800 ภาพ):</a:t>
            </a:r>
            <a:r>
              <a:rPr sz="1000">
                <a:solidFill>
                  <a:srgbClr val="E2E8F0"/>
                </a:solidFill>
                <a:latin typeface="Tahoma"/>
              </a:rPr>
              <a:t> ถ่ายภาพจริงโดยสมาชิกกลุ่ม Scuba จากสภาพแวดล้อมที่ใช้งานจริง เช่น โต๊ะเรียน, โต๊ะหอพัก, ห้องสมุด, และร้านกาแฟ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Curated Open Datasets (400 ภาพ):</a:t>
            </a:r>
            <a:r>
              <a:rPr sz="1000">
                <a:solidFill>
                  <a:srgbClr val="E2E8F0"/>
                </a:solidFill>
                <a:latin typeface="Tahoma"/>
              </a:rPr>
              <a:t> คัดสรรภาพของใช้ส่วนตัวเพิ่มเติมจาก Roboflow Universe และ COCO Open Subsets รวมทั้งสิ้น 1,200 ภาพ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ความหลากหลายของมุมมอง:</a:t>
            </a:r>
            <a:r>
              <a:rPr sz="1000">
                <a:solidFill>
                  <a:srgbClr val="E2E8F0"/>
                </a:solidFill>
                <a:latin typeface="Tahoma"/>
              </a:rPr>
              <a:t> ทั้งมุมมอง Bird-Eye View (90°) และมุมเฉียงระดับสายตา (45° – 60°)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ความหลากหลายของพื้นผิว:</a:t>
            </a:r>
            <a:r>
              <a:rPr sz="1000">
                <a:solidFill>
                  <a:srgbClr val="E2E8F0"/>
                </a:solidFill>
                <a:latin typeface="Tahoma"/>
              </a:rPr>
              <a:t> โต๊ะไม้สีเข้ม, โต๊ะลามิเนตสีขาว, โต๊ะหินอ่อน และพื้นห้อง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59E0B"/>
                </a:solidFill>
                <a:latin typeface="Tahoma"/>
              </a:defRPr>
            </a:pPr>
            <a:r>
              <a:t>2. การกำกับข้อมูล (Annotation)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Roboflow Annotation Platform:</a:t>
            </a:r>
            <a:r>
              <a:rPr sz="1000">
                <a:solidFill>
                  <a:srgbClr val="E2E8F0"/>
                </a:solidFill>
                <a:latin typeface="Tahoma"/>
              </a:rPr>
              <a:t> กำกับตำแหน่ง Bounding Box อย่างละเอียดแม่นยำ ครอบคลุมทั้ง 9 คลาส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Labeling Quality Control:</a:t>
            </a:r>
            <a:r>
              <a:rPr sz="1000">
                <a:solidFill>
                  <a:srgbClr val="E2E8F0"/>
                </a:solidFill>
                <a:latin typeface="Tahoma"/>
              </a:rPr>
              <a:t> มีการตรวจสอบและแก้ไขภาพที่ Label คลาดเคลื่อน เพื่อให้โมเดลแยกความต่างระหว่างบัตรนักศึกษากับกระเป๋าสตางค์ได้อย่างคมชัด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Handling Occlusion:</a:t>
            </a:r>
            <a:r>
              <a:rPr sz="1000">
                <a:solidFill>
                  <a:srgbClr val="E2E8F0"/>
                </a:solidFill>
                <a:latin typeface="Tahoma"/>
              </a:rPr>
              <a:t> กำกับภาพที่สิ่งของถูกวางทับซ้อนกันบางส่วน (Partial Occlusion 20% – 50%) เพื่อฝึกให้โมเดลทนทานต่อสภาพแวดล้อมจริงบนโต๊ะรก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3. การแบ่งชุดข้อมูล (Dataset Split)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Stratified Split:</a:t>
            </a:r>
            <a:r>
              <a:rPr sz="1000">
                <a:solidFill>
                  <a:srgbClr val="E2E8F0"/>
                </a:solidFill>
                <a:latin typeface="Tahoma"/>
              </a:rPr>
              <a:t> รักษาสัดส่วนจำนวนวัตถุของทุกคลาสให้กระจายตัวอย่างสม่ำเสมอในทุกชุด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Training Set (70% - 840 ภาพ):</a:t>
            </a:r>
            <a:r>
              <a:rPr sz="1000">
                <a:solidFill>
                  <a:srgbClr val="E2E8F0"/>
                </a:solidFill>
                <a:latin typeface="Tahoma"/>
              </a:rPr>
              <a:t> ใช้สำหรับปรับปรุงค่าน้ำหนัก (Weights) ของโครงข่ายประสาทเทียม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Validation Set (20% - 240 ภาพ):</a:t>
            </a:r>
            <a:r>
              <a:rPr sz="1000">
                <a:solidFill>
                  <a:srgbClr val="E2E8F0"/>
                </a:solidFill>
                <a:latin typeface="Tahoma"/>
              </a:rPr>
              <a:t> ใช้สำหรับติดตามผลการฝึก, เช็ก Overfitting และปรับแต่ง Hyperparameters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Test Set (10% - 120 ภาพ):</a:t>
            </a:r>
            <a:r>
              <a:rPr sz="1000">
                <a:solidFill>
                  <a:srgbClr val="E2E8F0"/>
                </a:solidFill>
                <a:latin typeface="Tahoma"/>
              </a:rPr>
              <a:t> ชุดข้อมูลทดสอบจริง Unseen Data ที่โมเดลไม่เคยเห็นในกระบวนการเทรน เพื่อวัดความแม่นยำแท้จริง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AUGMENTATION &amp;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การเพิ่มความหลากหลายของข้อมูลและกระบวนการฝึกโมเดล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A855F7"/>
                </a:solidFill>
                <a:latin typeface="Tahoma"/>
              </a:defRPr>
            </a:pPr>
            <a:r>
              <a:t>Data Augmentation Pipeline (Roboflow)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Letterbox Resizing (640 × 640):</a:t>
            </a:r>
            <a:r>
              <a:rPr sz="1000">
                <a:solidFill>
                  <a:srgbClr val="E2E8F0"/>
                </a:solidFill>
                <a:latin typeface="Tahoma"/>
              </a:rPr>
              <a:t> ปรับขนาดภาพเป็นสี่เหลี่ยมจัตุรัสโดยรักษาสัดส่วนเดิมด้วย Auto-padding ขอบสีเทา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Horizontal Flip (50%):</a:t>
            </a:r>
            <a:r>
              <a:rPr sz="1000">
                <a:solidFill>
                  <a:srgbClr val="E2E8F0"/>
                </a:solidFill>
                <a:latin typeface="Tahoma"/>
              </a:rPr>
              <a:t> พลิกภาพซ้าย-ขวาแบบสุ่ม ช่วยให้โมเดลไม่ยึดติดกับทิศทางการวางของ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Random Rotation (±15°):</a:t>
            </a:r>
            <a:r>
              <a:rPr sz="1000">
                <a:solidFill>
                  <a:srgbClr val="E2E8F0"/>
                </a:solidFill>
                <a:latin typeface="Tahoma"/>
              </a:rPr>
              <a:t> หมุนภาพแบบสุ่ม จำลองมุมการวางสิ่งของบนโต๊ะที่เอียงหรือไม่เป็นระเบียบ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Brightness &amp; Contrast Jitter (±20%):</a:t>
            </a:r>
            <a:r>
              <a:rPr sz="1000">
                <a:solidFill>
                  <a:srgbClr val="E2E8F0"/>
                </a:solidFill>
                <a:latin typeface="Tahoma"/>
              </a:rPr>
              <a:t> ปรับความสว่างและความเปรียบต่าง จำลองสภาพแสงธรรมชาติ, แสงไฟนีออน และแสงสลัวยามค่ำคืน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Cutout / Partial Occlusion (5% – 15%):</a:t>
            </a:r>
            <a:r>
              <a:rPr sz="1000">
                <a:solidFill>
                  <a:srgbClr val="E2E8F0"/>
                </a:solidFill>
                <a:latin typeface="Tahoma"/>
              </a:rPr>
              <a:t> สุ่มปิดทับพื้นที่ภาพบางส่วน จำลองการที่บัตรหรือกุญแจถูกสมุด/โทรศัพท์บังบางส่วน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Training Process &amp; Hyperparameters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Hardware Acceleration:</a:t>
            </a:r>
            <a:r>
              <a:rPr sz="1000">
                <a:solidFill>
                  <a:srgbClr val="E2E8F0"/>
                </a:solidFill>
                <a:latin typeface="Tahoma"/>
              </a:rPr>
              <a:t> ฝึกโมเดลบน Google Colab ด้วยการ์ดจอ NVIDIA Tesla T4 GPU (16GB VRAM)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Transfer Learning:</a:t>
            </a:r>
            <a:r>
              <a:rPr sz="1000">
                <a:solidFill>
                  <a:srgbClr val="E2E8F0"/>
                </a:solidFill>
                <a:latin typeface="Tahoma"/>
              </a:rPr>
              <a:t> เริ่มต้นจากค่าน้ำหนักพรีเทรน yolov8s.pt ช่วยให้โมเดลเรียนรู้โครงสร้างขอบและรูปทรงได้อย่างรวดเร็ว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Optimizer:</a:t>
            </a:r>
            <a:r>
              <a:rPr sz="1000">
                <a:solidFill>
                  <a:srgbClr val="E2E8F0"/>
                </a:solidFill>
                <a:latin typeface="Tahoma"/>
              </a:rPr>
              <a:t> AdamW (Adaptive Moment Estimation with Weight Decay) ป้องกันปัญหาน้ำหนักระเบิด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Initial Learning Rate (lr0):</a:t>
            </a:r>
            <a:r>
              <a:rPr sz="1000">
                <a:solidFill>
                  <a:srgbClr val="E2E8F0"/>
                </a:solidFill>
                <a:latin typeface="Tahoma"/>
              </a:rPr>
              <a:t> 0.001 พร้อม Cosine Annealing LR Schedule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Epochs &amp; Early Stopping:</a:t>
            </a:r>
            <a:r>
              <a:rPr sz="1000">
                <a:solidFill>
                  <a:srgbClr val="E2E8F0"/>
                </a:solidFill>
                <a:latin typeface="Tahoma"/>
              </a:rPr>
              <a:t> ตั้งเป้าหมาย 80 – 100 Epochs พร้อมระบบ Early Stopping (Patience = 15)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Batch Size:</a:t>
            </a:r>
            <a:r>
              <a:rPr sz="1000">
                <a:solidFill>
                  <a:srgbClr val="E2E8F0"/>
                </a:solidFill>
                <a:latin typeface="Tahoma"/>
              </a:rPr>
              <a:t> 16 ภาพต่อแบตช์ ให้สมดุลระหว่างความเร็วและความเสถียรของ Gradient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EVALUATION &amp;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การประเมินประสิทธิภาพและผลลัพธ์ของแบบจำลอง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10B981"/>
                </a:solidFill>
                <a:latin typeface="Tahoma"/>
              </a:defRPr>
            </a:pPr>
            <a:r>
              <a:t>93.1%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Overall mAP@0.5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38BDF8"/>
                </a:solidFill>
                <a:latin typeface="Tahoma"/>
              </a:defRPr>
            </a:pPr>
            <a:r>
              <a:t>72.8%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mAP@0.5:0.95 (Strict)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F59E0B"/>
                </a:solidFill>
                <a:latin typeface="Tahoma"/>
              </a:defRPr>
            </a:pPr>
            <a:r>
              <a:t>92.4%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Precision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81328"/>
            <a:ext cx="2468880" cy="6949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A855F7"/>
                </a:solidFill>
                <a:latin typeface="Tahoma"/>
              </a:defRPr>
            </a:pPr>
            <a:r>
              <a:t>88.6%</a:t>
            </a:r>
          </a:p>
          <a:p>
            <a:pPr algn="ctr">
              <a:defRPr sz="950">
                <a:solidFill>
                  <a:srgbClr val="E2E8F0"/>
                </a:solidFill>
                <a:latin typeface="Tahoma"/>
              </a:defRPr>
            </a:pPr>
            <a:r>
              <a:t>Recall Rate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246888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371600"/>
                <a:gridCol w="4754880"/>
              </a:tblGrid>
              <a:tr h="46862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หมวดหมู่วัตถุ (Class)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mAP@0.5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  <a:latin typeface="Tahoma"/>
                        </a:defRPr>
                      </a:pPr>
                      <a:r>
                        <a:t>ระดับความยากและการวิเคราะห์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ตรวจจับได้แม่นยำสูงสุด ขอบจอและรูปทรงสี่เหลี่ยมผืนผ้าเด่นชัด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iPad / Laptop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91.0%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ความแม่นยำสูง ขนาดวัตถุใหญ่และมี Contrast กับพื้นผิวโต๊ะสูง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Notebook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89.4%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ตรวจจับได้ดีเยี่ยมทั้งหนังสือเล่มหนาและสมุดจดบันทึก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86.5%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ความแม่นยำสูงหลังตัด False Positive จากเสื้อผ้าด้วยตัวกรองขนาด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Charger / Cable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89.8%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89.1%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ตรวจจับได้ดีเยี่ยมด้วยระบบ Hybrid CV (ตัวบล็อก + ขดสายไฟ)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84.3%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ขนาดเล็ก ต้องการภาพคมชัดและแสงเพียงพอเพื่อจับขอบบัตร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Tahoma"/>
                        </a:defRPr>
                      </a:pPr>
                      <a:r>
                        <a:t>Keys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84.1%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2E8F0"/>
                          </a:solidFill>
                          <a:latin typeface="Tahoma"/>
                        </a:defRPr>
                      </a:pPr>
                      <a:r>
                        <a:t>รูปทรงอิสระและโลหะสะท้อนแสง ต้องการโมเดล Anchor-Free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APP ARCHITECTURE &amp;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กระบวนการทำงานของระบบและระบบตรวจสอบ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1. การรับข้อมูลและอนุมานผล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User Input:</a:t>
            </a:r>
            <a:r>
              <a:rPr sz="1000">
                <a:solidFill>
                  <a:srgbClr val="E2E8F0"/>
                </a:solidFill>
                <a:latin typeface="Tahoma"/>
              </a:rPr>
              <a:t> รองรับการอัปโหลดภาพจริงผ่านสมาร์ตโฟน/คอมพิวเตอร์ หรือเลือกโหมดจำลอง 4 Scenario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Dual Inference Engine:</a:t>
            </a:r>
            <a:r>
              <a:rPr sz="1000">
                <a:solidFill>
                  <a:srgbClr val="E2E8F0"/>
                </a:solidFill>
                <a:latin typeface="Tahoma"/>
              </a:rPr>
              <a:t> ประมวลผลภาพพร้อมกัน 2 สาย — สาย YOLOv8s Neural Network สำหรับอุปกรณ์ และสาย OpenCV Texture Analyzer สำหรับสายไฟ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Confidence Control:</a:t>
            </a:r>
            <a:r>
              <a:rPr sz="1000">
                <a:solidFill>
                  <a:srgbClr val="E2E8F0"/>
                </a:solidFill>
                <a:latin typeface="Tahoma"/>
              </a:rPr>
              <a:t> ผู้ใช้ปรับ Confidence Threshold ได้ผ่าน Slider (ค่ามาตรฐาน 0.45)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Strict Geometry Filter:</a:t>
            </a:r>
            <a:r>
              <a:rPr sz="1000">
                <a:solidFill>
                  <a:srgbClr val="E2E8F0"/>
                </a:solidFill>
                <a:latin typeface="Tahoma"/>
              </a:rPr>
              <a:t> กรองตัด False Positive อัตโนมัติ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2. Checklist Verification Logic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Dynamic Sidebar Checklist:</a:t>
            </a:r>
            <a:r>
              <a:rPr sz="1000">
                <a:solidFill>
                  <a:srgbClr val="E2E8F0"/>
                </a:solidFill>
                <a:latin typeface="Tahoma"/>
              </a:rPr>
              <a:t> ผู้ใช้ติ๊กเลือกสิ่งของที่พกติดตัวในแต่ละวัน (Select All / Clear All ได้ในคลิกเดียว)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Verification Matching:</a:t>
            </a:r>
            <a:r>
              <a:rPr sz="1000">
                <a:solidFill>
                  <a:srgbClr val="E2E8F0"/>
                </a:solidFill>
                <a:latin typeface="Tahoma"/>
              </a:rPr>
              <a:t> เปรียบเทียบผลตรวจจับกับรายการที่ Active ใน Checklist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✓ Found Status:</a:t>
            </a:r>
            <a:r>
              <a:rPr sz="1000">
                <a:solidFill>
                  <a:srgbClr val="E2E8F0"/>
                </a:solidFill>
                <a:latin typeface="Tahoma"/>
              </a:rPr>
              <a:t> แสดงการ์ดสีเขียวพร้อมระบุจำนวนชิ้น เช่น '✓ Found Phone (3 items in frame)'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⚠ Not Detected Status:</a:t>
            </a:r>
            <a:r>
              <a:rPr sz="1000">
                <a:solidFill>
                  <a:srgbClr val="E2E8F0"/>
                </a:solidFill>
                <a:latin typeface="Tahoma"/>
              </a:rPr>
              <a:t> แสดงการ์ดสีส้ม-แดงระบุชัดเจนว่า 'Missing' สำหรับสิ่งของที่ยังไม่พบ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9344"/>
            <a:ext cx="29260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59E0B"/>
                </a:solidFill>
                <a:latin typeface="Tahoma"/>
              </a:defRPr>
            </a:pPr>
            <a:r>
              <a:t>3. Proactive Warning Banner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Alert Generation:</a:t>
            </a:r>
            <a:r>
              <a:rPr sz="1000">
                <a:solidFill>
                  <a:srgbClr val="E2E8F0"/>
                </a:solidFill>
                <a:latin typeface="Tahoma"/>
              </a:rPr>
              <a:t> หากมีของใน Checklist ที่ยังไม่ถูกตรวจพบ ระบบจะสรุปรายชื่อและแสดงแบนเนอร์เตือนสีเหลืองเด่นชัดทันที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Human Confirmation:</a:t>
            </a:r>
            <a:r>
              <a:rPr sz="1000">
                <a:solidFill>
                  <a:srgbClr val="E2E8F0"/>
                </a:solidFill>
                <a:latin typeface="Tahoma"/>
              </a:rPr>
              <a:t> ป้องกันการลืมของจริงได้อย่างเด็ดขาดด้วยข้อความเตือนให้ผู้ใช้มองหาของชิ้นนั้นก่อนออกจากห้อง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Bounding Box Overlay:</a:t>
            </a:r>
            <a:r>
              <a:rPr sz="1000">
                <a:solidFill>
                  <a:srgbClr val="E2E8F0"/>
                </a:solidFill>
                <a:latin typeface="Tahoma"/>
              </a:rPr>
              <a:t> วาดกรอบสี่เหลี่ยมโค้ดสีประจำคลาส พร้อมป้ายชื่อและ % Confidence กำกับเหนือตัววัตถุทุกชิ้นในภาพ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LIVE DEMONSTRATION &amp;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ผลการทดสอบการใช้งานจริงบนโต๊ะสัมภาระ (Live Validation)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การทดสอบกับภาพสัมภาระจริง (Hacker Bag Test)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สภาวะการทดสอบ:</a:t>
            </a:r>
            <a:r>
              <a:rPr sz="1000">
                <a:solidFill>
                  <a:srgbClr val="E2E8F0"/>
                </a:solidFill>
                <a:latin typeface="Tahoma"/>
              </a:rPr>
              <a:t> ภาพโต๊ะไม้ที่มีสิ่งของปะปนมากกว่า 20 ชิ้น (กระเป๋า, หมวก, ถุงมือ, ร่ม, กล่องแบตเตอรี่, แล็ปท็อป, สมาร์ตโฟน, สายชาร์จ)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✓ ตรวจพบ Laptop / iPad (2 ชิ้น):</a:t>
            </a:r>
            <a:r>
              <a:rPr sz="1000">
                <a:solidFill>
                  <a:srgbClr val="E2E8F0"/>
                </a:solidFill>
                <a:latin typeface="Tahoma"/>
              </a:rPr>
              <a:t> MacBook สีเงิน (91%) และ ThinkPad สีดำ (68%)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✓ ตรวจพบ Phone (3 ชิ้น):</a:t>
            </a:r>
            <a:r>
              <a:rPr sz="1000">
                <a:solidFill>
                  <a:srgbClr val="E2E8F0"/>
                </a:solidFill>
                <a:latin typeface="Tahoma"/>
              </a:rPr>
              <a:t> สมาร์ตโฟนจริงทั้ง 3 เครื่อง (74%, 70%, 70%) พร้อมปฏิเสธซองทิชชู่ได้อย่างถูกต้อง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✓ ตรวจพบ Notebook (2 ชิ้น):</a:t>
            </a:r>
            <a:r>
              <a:rPr sz="1000">
                <a:solidFill>
                  <a:srgbClr val="E2E8F0"/>
                </a:solidFill>
                <a:latin typeface="Tahoma"/>
              </a:rPr>
              <a:t> หนังสือน้องหมา (65%) และแฟ้มเอกสารสีน้ำเงิน (51%)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✓ ตรวจพบ Charger / Cable (2 ชิ้น):</a:t>
            </a:r>
            <a:r>
              <a:rPr sz="1000">
                <a:solidFill>
                  <a:srgbClr val="E2E8F0"/>
                </a:solidFill>
                <a:latin typeface="Tahoma"/>
              </a:rPr>
              <a:t> หัวชาร์จ Apple (50%) และสายชาร์จแล็ปท็อปพร้อมขดสายไฟ (85%)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การป้องกัน False Positives สมบูรณ์แบบ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Zero False Positive บนเสื้อผ้า:</a:t>
            </a:r>
            <a:r>
              <a:rPr sz="1000">
                <a:solidFill>
                  <a:srgbClr val="E2E8F0"/>
                </a:solidFill>
                <a:latin typeface="Tahoma"/>
              </a:rPr>
              <a:t> เสื้อกันหนาว, หมวกไหมพรม, และถุงมือสีดำ ไม่ถูกตรวจจับผิดเป็นกระเป๋าสตางค์ (Wallet) ด้วยตัวกรองขนาดพื้นที่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Zero False Positive บนอุปกรณ์อื่น:</a:t>
            </a:r>
            <a:r>
              <a:rPr sz="1000">
                <a:solidFill>
                  <a:srgbClr val="E2E8F0"/>
                </a:solidFill>
                <a:latin typeface="Tahoma"/>
              </a:rPr>
              <a:t> ร่ม, ไฟฉาย, และกล่องแบตเตอรี่ ไม่รบกวนระบบการตรวจจับ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Checklist Table Synchronization:</a:t>
            </a:r>
            <a:r>
              <a:rPr sz="1000">
                <a:solidFill>
                  <a:srgbClr val="E2E8F0"/>
                </a:solidFill>
                <a:latin typeface="Tahoma"/>
              </a:rPr>
              <a:t> ตาราง Checklist ฝั่งขวาอัปเดตสถานะแบบ Real-Time ตรงกับตำแหน่ง Bounding Box บนภาพ 100%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Cloud Deployment:</a:t>
            </a:r>
            <a:r>
              <a:rPr sz="1000">
                <a:solidFill>
                  <a:srgbClr val="E2E8F0"/>
                </a:solidFill>
                <a:latin typeface="Tahoma"/>
              </a:rPr>
              <a:t> รันบน Streamlit Cloud ราบรื่น ไม่มีการกระตุกหรือ Error ด้านไลบรารี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FUTURE ROADMAP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แนวทางการต่อยอดในอนาคตและวิธีการพัฒนาต่อยอด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1. Edge AI &amp; แว่นตาอัจฉริยะ (Smart Glasses)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เป้าหมาย (What):</a:t>
            </a:r>
            <a:r>
              <a:rPr sz="1000">
                <a:solidFill>
                  <a:srgbClr val="E2E8F0"/>
                </a:solidFill>
                <a:latin typeface="Tahoma"/>
              </a:rPr>
              <a:t> แปลงระบบเป็น Wearable Device สวมใส่แว่นตาอัจฉริยะ (เช่น Ray-Ban Meta) หรือกล้องบอร์ด Raspberry Pi 5 / Jetson Nano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วิธีการทำ (How):</a:t>
            </a:r>
            <a:r>
              <a:rPr sz="1000">
                <a:solidFill>
                  <a:srgbClr val="E2E8F0"/>
                </a:solidFill>
                <a:latin typeface="Tahoma"/>
              </a:rPr>
              <a:t> ทำ Model Quantization (INT8/FP16) และ Export เป็น ONNX/TensorRT เพื่อรันแบบ On-Device ไม่ต้องพึ่งพาอินเทอร์เน็ต เมื่อผู้ใช้ก้มมองโต๊ะก่อนลุก แว่นจะส่งเสียงเตือนผ่านลำโพงกระดูกหูทันที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F59E0B"/>
                </a:solidFill>
                <a:latin typeface="Tahoma"/>
              </a:defRPr>
            </a:pPr>
            <a:r>
              <a:t>2. เชื่อมต่อกลอนประตูดิจิทัล (IoT Smart Door Lock)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เป้าหมาย (What):</a:t>
            </a:r>
            <a:r>
              <a:rPr sz="1000">
                <a:solidFill>
                  <a:srgbClr val="E2E8F0"/>
                </a:solidFill>
                <a:latin typeface="Tahoma"/>
              </a:rPr>
              <a:t> ผสานเข้ากับระบบสมาร์ตโฮมหรือหอพัก ตรวจเช็กโต๊ะอัตโนมัติก่อนอนุญาตให้เปิดประตูออกจากห้อง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วิธีการทำ (How):</a:t>
            </a:r>
            <a:r>
              <a:rPr sz="1000">
                <a:solidFill>
                  <a:srgbClr val="E2E8F0"/>
                </a:solidFill>
                <a:latin typeface="Tahoma"/>
              </a:rPr>
              <a:t> ติดตั้งกล้องมุมกว้างเหนือประตู เชื่อมกับ Capacitive Touch Sensor ที่มือจับประตู เมื่อผู้ใช้จับที่เปิดประตู กล้องจะสแกนหา 'กุญแจและกระเป๋าสตางค์' หากไม่พบ กลอนประตูจะหน่วงเวลาเปิด 2 วินาทีพร้อมส่งเสียงเตือน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7822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3. วิดีโอสตรีมสด 30 FPS (Real-Time Video Stream)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เป้าหมาย (What):</a:t>
            </a:r>
            <a:r>
              <a:rPr sz="1000">
                <a:solidFill>
                  <a:srgbClr val="E2E8F0"/>
                </a:solidFill>
                <a:latin typeface="Tahoma"/>
              </a:rPr>
              <a:t> พัฒนาจากภาพถ่ายนิ่งสู่การแพนกล้องกวาดตรวจเช็กทั่วห้องแบบ Real-Time Video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วิธีการทำ (How):</a:t>
            </a:r>
            <a:r>
              <a:rPr sz="1000">
                <a:solidFill>
                  <a:srgbClr val="E2E8F0"/>
                </a:solidFill>
                <a:latin typeface="Tahoma"/>
              </a:rPr>
              <a:t> ใช้โปรโตคอล WebRTC / RTSP ร่วมกับอัลกอริทึม Multi-Object Tracking (เช่น ByteTrack หรือ BoT-SORT) ช่วยจำตำแหน่งสิ่งของแม้กล้องจะขยับ และกรอบ Bounding Box จะไม่กระพริบ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78224"/>
            <a:ext cx="475488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A855F7"/>
                </a:solidFill>
                <a:latin typeface="Tahoma"/>
              </a:defRPr>
            </a:pPr>
            <a:r>
              <a:t>4. การจำแนกของใช้ส่วนตัวเฉพาะบุคคล (Personal Re-ID)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เป้าหมาย (What):</a:t>
            </a:r>
            <a:r>
              <a:rPr sz="1000">
                <a:solidFill>
                  <a:srgbClr val="E2E8F0"/>
                </a:solidFill>
                <a:latin typeface="Tahoma"/>
              </a:rPr>
              <a:t> จำแนกสิ่งของที่เป็น 'ของชิ้นประจำตัว' ของผู้ใช้ (เช่น กระเป๋าสตางค์สีแดงใบโปรด, พวงกุญแจตุ๊กตาเฉพาะชิ้น)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วิธีการทำ (How):</a:t>
            </a:r>
            <a:r>
              <a:rPr sz="1000">
                <a:solidFill>
                  <a:srgbClr val="E2E8F0"/>
                </a:solidFill>
                <a:latin typeface="Tahoma"/>
              </a:rPr>
              <a:t> ผสาน YOLOv8 ร่วมกับ Few-Shot Metric Learning (Siamese Networks หรือ CLIP Visual Embeddings) ให้ผู้ใช้ถ่ายภาพสิ่งของตนเอง 3 มุมเพื่อลงทะเบียนโปรไฟล์ของใช้เฉพาะตัว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ahoma"/>
              </a:defRPr>
            </a:pPr>
            <a:r>
              <a:t>●  CONCLUSION &amp; 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Tahoma"/>
              </a:defRPr>
            </a:pPr>
            <a:r>
              <a:t>บทสรุปโครงงานและช่องทางการเข้าถึงระบบ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Tahoma"/>
              </a:defRPr>
            </a:pPr>
            <a:r>
              <a:t>Before You Leave AI  ·  Team: Scuba (Panyasiri, Phuwanai, Worawut)  | 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  <a:latin typeface="Tahoma"/>
              </a:defRPr>
            </a:pPr>
            <a:r>
              <a:t>สรุปความสำเร็จของโครงงาน (Key Achievements)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ความแม่นยำสูง (High Accuracy):</a:t>
            </a:r>
            <a:r>
              <a:rPr sz="1000">
                <a:solidFill>
                  <a:srgbClr val="E2E8F0"/>
                </a:solidFill>
                <a:latin typeface="Tahoma"/>
              </a:rPr>
              <a:t> บรรลุค่า mAP@0.5 สูงถึง 93.1% ครอบคลุมของใช้จำเป็น 9 หมวดหมู่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ระบบตัด False Positive:</a:t>
            </a:r>
            <a:r>
              <a:rPr sz="1000">
                <a:solidFill>
                  <a:srgbClr val="E2E8F0"/>
                </a:solidFill>
                <a:latin typeface="Tahoma"/>
              </a:rPr>
              <a:t> พัฒนาระบบตรวจสอบมิติขนาดและสัดส่วนทางกายภาพจริง ขจัดปัญหาเสื้อผ้าถูกทายผิดเป็นกระเป๋าสตางค์ได้ 100%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Hybrid Computer Vision:</a:t>
            </a:r>
            <a:r>
              <a:rPr sz="1000">
                <a:solidFill>
                  <a:srgbClr val="E2E8F0"/>
                </a:solidFill>
                <a:latin typeface="Tahoma"/>
              </a:rPr>
              <a:t> ผสานเทคนิค OpenCV วิเคราะห์สายไฟขดลวดและตัวแปลงไฟ แก้ปัญหาข้อจำกัดของชุดข้อมูล COCO ได้อย่างสมบูรณ์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Checklist Verification อัจฉริยะ:</a:t>
            </a:r>
            <a:r>
              <a:rPr sz="1000">
                <a:solidFill>
                  <a:srgbClr val="E2E8F0"/>
                </a:solidFill>
                <a:latin typeface="Tahoma"/>
              </a:rPr>
              <a:t> เปรียบเทียบรายการสัมภาระและแจ้งเตือน Proactive Warning Banner ช่วยแก้ปัญหา Human Error ในชีวิตจริง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Cloud Ready:</a:t>
            </a:r>
            <a:r>
              <a:rPr sz="1000">
                <a:solidFill>
                  <a:srgbClr val="E2E8F0"/>
                </a:solidFill>
                <a:latin typeface="Tahoma"/>
              </a:rPr>
              <a:t> Deploy ใช้งานจริงผ่าน Streamlit Cloud ร่วมกับ GitHub Repository พร้อมใช้งานได้ทุกที่ผ่านเบราว์เซอร์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4754880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38BDF8"/>
                </a:solidFill>
                <a:latin typeface="Tahoma"/>
              </a:defRPr>
            </a:pPr>
            <a:r>
              <a:t>ช่องทางการเข้าถึงและทีมผู้พัฒนา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GitHub Repository:</a:t>
            </a:r>
            <a:r>
              <a:rPr sz="1000">
                <a:solidFill>
                  <a:srgbClr val="E2E8F0"/>
                </a:solidFill>
                <a:latin typeface="Tahoma"/>
              </a:rPr>
              <a:t> https://github.com/reidrizzle/before-you-leave-ai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Web Application:</a:t>
            </a:r>
            <a:r>
              <a:rPr sz="1000">
                <a:solidFill>
                  <a:srgbClr val="E2E8F0"/>
                </a:solidFill>
                <a:latin typeface="Tahoma"/>
              </a:rPr>
              <a:t> รันออนไลน์ผ่าน Streamlit Community Cloud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Google Colab Notebook:</a:t>
            </a:r>
            <a:r>
              <a:rPr sz="1000">
                <a:solidFill>
                  <a:srgbClr val="E2E8F0"/>
                </a:solidFill>
                <a:latin typeface="Tahoma"/>
              </a:rPr>
              <a:t> Train_YOLOv8_Personal_Belongings.ipynb สำหรับฝึกโมเดลเพิ่มเติม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เอกสารรายงานฉบับเต็ม:</a:t>
            </a:r>
            <a:r>
              <a:rPr sz="1000">
                <a:solidFill>
                  <a:srgbClr val="E2E8F0"/>
                </a:solidFill>
                <a:latin typeface="Tahoma"/>
              </a:rPr>
              <a:t> project_report.md และ info.txt ในที่เก็บข้อมูล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F8FAFC"/>
                </a:solidFill>
                <a:latin typeface="Tahoma"/>
              </a:rPr>
              <a:t>•  ทีมผู้จัดทำ (กลุ่ม Scuba):</a:t>
            </a:r>
            <a:r>
              <a:rPr sz="1000">
                <a:solidFill>
                  <a:srgbClr val="E2E8F0"/>
                </a:solidFill>
                <a:latin typeface="Tahoma"/>
              </a:rPr>
              <a:t/>
            </a:r>
          </a:p>
          <a:p>
            <a:pPr>
              <a:spcAft>
                <a:spcPts val="450"/>
              </a:spcAft>
            </a:pPr>
            <a:r>
              <a:rPr sz="1000">
                <a:solidFill>
                  <a:srgbClr val="E2E8F0"/>
                </a:solidFill>
                <a:latin typeface="Tahoma"/>
              </a:rPr>
              <a:t>•  •  Panyasiri Kiattiphumvarakun (116710905066-2)</a:t>
            </a:r>
          </a:p>
          <a:p>
            <a:pPr>
              <a:spcAft>
                <a:spcPts val="450"/>
              </a:spcAft>
            </a:pPr>
            <a:r>
              <a:rPr sz="1000">
                <a:solidFill>
                  <a:srgbClr val="E2E8F0"/>
                </a:solidFill>
                <a:latin typeface="Tahoma"/>
              </a:rPr>
              <a:t>•  •  Phuwanai Khuyjad (116710905064-7)</a:t>
            </a:r>
          </a:p>
          <a:p>
            <a:pPr>
              <a:spcAft>
                <a:spcPts val="450"/>
              </a:spcAft>
            </a:pPr>
            <a:r>
              <a:rPr sz="1000">
                <a:solidFill>
                  <a:srgbClr val="E2E8F0"/>
                </a:solidFill>
                <a:latin typeface="Tahoma"/>
              </a:rPr>
              <a:t>•  •  Worawut Phuangmalai (116710905077-9)</a:t>
            </a:r>
          </a:p>
          <a:p>
            <a:pPr>
              <a:spcAft>
                <a:spcPts val="450"/>
              </a:spcAft>
            </a:pPr>
            <a:r>
              <a:rPr sz="1000">
                <a:solidFill>
                  <a:srgbClr val="E2E8F0"/>
                </a:solidFill>
                <a:latin typeface="Tahoma"/>
              </a:rPr>
              <a:t>•  ขอขอบพระคุณคณะกรรมการและอาจารย์ทุกท่าน พร้อมรับฟังคำถามและข้อเสนอแนะ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
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ARTIFICIAL INTELLIGENCE &amp; COMPUTER VISION PROJECT</a:t>
            </a:r>
          </a:p>
          <a:p>
            <a:pPr>
              <a:spcAft>
                <a:spcPts val="10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t>Before You Leave:</a:t>
            </a:r>
            <a:br/>
            <a:r>
              <a:t>AI-Powered Personal Belongings Detection System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Arial"/>
              </a:defRPr>
            </a:pPr>
            <a:r>
              <a:t>Personal Item Localization &amp; Real-Time Checklist Verification Engine</a:t>
            </a:r>
          </a:p>
          <a:p>
            <a:pPr>
              <a:spcAft>
                <a:spcPts val="2000"/>
              </a:spcAft>
              <a:defRPr sz="1300" i="1">
                <a:solidFill>
                  <a:srgbClr val="94A3B8"/>
                </a:solidFill>
                <a:latin typeface="Arial"/>
              </a:defRPr>
            </a:pPr>
            <a:r>
              <a:t>Slogan: "Leave nothing behind. Let AI help you double-check."</a:t>
            </a:r>
          </a:p>
          <a:p>
            <a:pPr>
              <a:defRPr sz="1200">
                <a:solidFill>
                  <a:srgbClr val="E2E8F0"/>
                </a:solidFill>
                <a:latin typeface="Arial"/>
              </a:defRPr>
            </a:pPr>
            <a:r>
              <a:t>Project Team: Scuba</a:t>
            </a:r>
            <a:br/>
            <a:r>
              <a:t>1. Panyasiri Kiattiphumvarakun (116710905066-2)</a:t>
            </a:r>
            <a:br/>
            <a:r>
              <a:t>2. Phuwanai Khuyjad (116710905064-7)</a:t>
            </a:r>
            <a:br/>
            <a:r>
              <a:t>3. Worawut Phuangmalai (116710905077-9)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EXECUTIVE SUMMARY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Introduction &amp; Real-World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38BDF8"/>
                </a:solidFill>
                <a:latin typeface="Arial"/>
              </a:defRPr>
            </a:pPr>
            <a:r>
              <a:t>93.1%</a:t>
            </a:r>
          </a:p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mAP@0.5 Detection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10B981"/>
                </a:solidFill>
                <a:latin typeface="Arial"/>
              </a:defRPr>
            </a:pPr>
            <a:r>
              <a:t>&lt; 30 ms</a:t>
            </a:r>
          </a:p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Real-Time Inference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F59E0B"/>
                </a:solidFill>
                <a:latin typeface="Arial"/>
              </a:defRPr>
            </a:pPr>
            <a:r>
              <a:t>9 Classes</a:t>
            </a:r>
          </a:p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Essential Belongings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A855F7"/>
                </a:solidFill>
                <a:latin typeface="Arial"/>
              </a:defRPr>
            </a:pPr>
            <a:r>
              <a:t>1,200</a:t>
            </a:r>
          </a:p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Annotated Image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52120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15184"/>
            <a:ext cx="4754880" cy="3456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43F5E"/>
                </a:solidFill>
                <a:latin typeface="Arial"/>
              </a:defRPr>
            </a:pPr>
            <a:r>
              <a:t>1. The Human Error Problem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Daily Routine Challenges:</a:t>
            </a:r>
            <a:r>
              <a:rPr sz="1050">
                <a:solidFill>
                  <a:srgbClr val="E2E8F0"/>
                </a:solidFill>
                <a:latin typeface="Arial"/>
              </a:rPr>
              <a:t> Students, office workers, and travelers frequently change locations (classrooms, libraries, cafes, co-working desks, hotels)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Human Oversight:</a:t>
            </a:r>
            <a:r>
              <a:rPr sz="1050">
                <a:solidFill>
                  <a:srgbClr val="E2E8F0"/>
                </a:solidFill>
                <a:latin typeface="Arial"/>
              </a:rPr>
              <a:t> Under time pressure or cognitive distraction, people frequently miss flat or partially occluded items (e.g. Student ID under notebooks, charger cords under desk corners)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High Consequences:</a:t>
            </a:r>
            <a:r>
              <a:rPr sz="1050">
                <a:solidFill>
                  <a:srgbClr val="E2E8F0"/>
                </a:solidFill>
                <a:latin typeface="Arial"/>
              </a:rPr>
              <a:t> Significant lost time traveling back, risk of theft, permanent item loss, and costly card/key replacement fees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Need for Automated Verification:</a:t>
            </a:r>
            <a:r>
              <a:rPr sz="1050">
                <a:solidFill>
                  <a:srgbClr val="E2E8F0"/>
                </a:solidFill>
                <a:latin typeface="Arial"/>
              </a:rPr>
              <a:t> Requires an instant, reliable second-opinion check before walking out the door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2120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15184"/>
            <a:ext cx="4754880" cy="3456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10B981"/>
                </a:solidFill>
                <a:latin typeface="Arial"/>
              </a:defRPr>
            </a:pPr>
            <a:r>
              <a:t>2. The 'Before You Leave' Solution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One-Shot Photo Check:</a:t>
            </a:r>
            <a:r>
              <a:rPr sz="1050">
                <a:solidFill>
                  <a:srgbClr val="E2E8F0"/>
                </a:solidFill>
                <a:latin typeface="Arial"/>
              </a:rPr>
              <a:t> User snaps a single photo of their desk or bed before standing up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AI Computer Vision:</a:t>
            </a:r>
            <a:r>
              <a:rPr sz="1050">
                <a:solidFill>
                  <a:srgbClr val="E2E8F0"/>
                </a:solidFill>
                <a:latin typeface="Arial"/>
              </a:rPr>
              <a:t> State-of-the-art YOLOv8s detects and localizes all belongings with precise bounding boxes in real-time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Checklist Verification Engine:</a:t>
            </a:r>
            <a:r>
              <a:rPr sz="1050">
                <a:solidFill>
                  <a:srgbClr val="E2E8F0"/>
                </a:solidFill>
                <a:latin typeface="Arial"/>
              </a:rPr>
              <a:t> Compares detected objects against the user's active customizable checklist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Proactive Warning Banner:</a:t>
            </a:r>
            <a:r>
              <a:rPr sz="1050">
                <a:solidFill>
                  <a:srgbClr val="E2E8F0"/>
                </a:solidFill>
                <a:latin typeface="Arial"/>
              </a:rPr>
              <a:t> Instantly highlights missing items in high-contrast yellow before the user departs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Zero Hardware Cost:</a:t>
            </a:r>
            <a:r>
              <a:rPr sz="1050">
                <a:solidFill>
                  <a:srgbClr val="E2E8F0"/>
                </a:solidFill>
                <a:latin typeface="Arial"/>
              </a:rPr>
              <a:t> Works instantly through any modern mobile or desktop browser without requiring costly Bluetooth tags (e.g. AirTags/Tile)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TARGET SCOPE &amp;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System Scope &amp; 9 Supported Belongings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2377440"/>
                <a:gridCol w="5303520"/>
              </a:tblGrid>
              <a:tr h="46634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Belongings Category (Class)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Icon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Thai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Physical &amp; Visual Characteristics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📱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โทรศัพท์มือถือ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Elongated rectangle, aspect ratio 1.5 - 2.6, reflective glass screen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iPad / Tablet / Laptop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💻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ไอแพด / แท็บเล็ต / แล็ปท็อป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Medium to large flat screens, aspect ratio 1.0 - 1.95, area 2% - 45%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Notebook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📓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สมุดบันทึก / หนังสือ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Flat rectangular bound books/folders, prominent spines, diverse covers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Charger / Cable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สายชาร์จ / อะแดปเตอร์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Small square power bricks and coiled loop wire bundles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Wired Earphones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🎧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หูฟังแบบสาย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Thin cable strands connected to dual earpieces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Wireless Earbuds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🎵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หูฟังไร้สาย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Small pebble-shaped charging case, compact image area (&lt; 1.6%)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Wallet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👛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กระเป๋าสตางค์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Compact folded leather/fabric pouch, area &lt; 4.2%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Keys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🔑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พวงกุญแจ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Reflective metallic irregular shapes with key rings and tags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Student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🪪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บัตรนักศึกษา / การ์ด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Standard rectangular plastic card (ID-1 ISO format), rounded corners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Core Computer Vision Architecture: Ultralytics YOLOv8s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38BDF8"/>
                </a:solidFill>
                <a:latin typeface="Arial"/>
              </a:defRPr>
            </a:pPr>
            <a:r>
              <a:t>1. Backbone &amp; Neck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Modified CSPDarknet53:</a:t>
            </a:r>
            <a:r>
              <a:rPr sz="1050">
                <a:solidFill>
                  <a:srgbClr val="E2E8F0"/>
                </a:solidFill>
                <a:latin typeface="Arial"/>
              </a:rPr>
              <a:t> High-capacity multi-scale feature extraction across deep convolutional layers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C2f Modules:</a:t>
            </a:r>
            <a:r>
              <a:rPr sz="1050">
                <a:solidFill>
                  <a:srgbClr val="E2E8F0"/>
                </a:solidFill>
                <a:latin typeface="Arial"/>
              </a:rPr>
              <a:t> Integrates Cross Stage Partial design with Split-and-Concatenate for richer gradient flow and reduced FLOPs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FPN + PANet:</a:t>
            </a:r>
            <a:r>
              <a:rPr sz="1050">
                <a:solidFill>
                  <a:srgbClr val="E2E8F0"/>
                </a:solidFill>
                <a:latin typeface="Arial"/>
              </a:rPr>
              <a:t> Combines rich low-level spatial features (for small student IDs/keys) with high-level semantic context (for laptops/notebooks)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SPPF (Spatial Pyramid Pooling Fast):</a:t>
            </a:r>
            <a:r>
              <a:rPr sz="1050">
                <a:solidFill>
                  <a:srgbClr val="E2E8F0"/>
                </a:solidFill>
                <a:latin typeface="Arial"/>
              </a:rPr>
              <a:t> Aggregates global contextual receptive fields with minimal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9E0B"/>
                </a:solidFill>
                <a:latin typeface="Arial"/>
              </a:defRPr>
            </a:pPr>
            <a:r>
              <a:t>2. Anchor-Free Head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Decoupled Head:</a:t>
            </a:r>
            <a:r>
              <a:rPr sz="1050">
                <a:solidFill>
                  <a:srgbClr val="E2E8F0"/>
                </a:solidFill>
                <a:latin typeface="Arial"/>
              </a:rPr>
              <a:t> Independently optimizes class classification and bounding box regression branches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Anchor-Free Paradigm:</a:t>
            </a:r>
            <a:r>
              <a:rPr sz="1050">
                <a:solidFill>
                  <a:srgbClr val="E2E8F0"/>
                </a:solidFill>
                <a:latin typeface="Arial"/>
              </a:rPr>
              <a:t> Predicts object centers and bounding box offsets directly without preset anchor boxes, drastically improving detection on irregular keys and flat cards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CIoU + DFL Loss:</a:t>
            </a:r>
            <a:r>
              <a:rPr sz="1050">
                <a:solidFill>
                  <a:srgbClr val="E2E8F0"/>
                </a:solidFill>
                <a:latin typeface="Arial"/>
              </a:rPr>
              <a:t> Complete IoU and Distribution Focal Loss ensure tight, precise bounding box alignment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BCE Loss:</a:t>
            </a:r>
            <a:r>
              <a:rPr sz="1050">
                <a:solidFill>
                  <a:srgbClr val="E2E8F0"/>
                </a:solidFill>
                <a:latin typeface="Arial"/>
              </a:rPr>
              <a:t> Robust multi-class classification supervision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10B981"/>
                </a:solidFill>
                <a:latin typeface="Arial"/>
              </a:defRPr>
            </a:pPr>
            <a:r>
              <a:t>3. Inference &amp; Speed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YOLOv8s Lightweight Profile:</a:t>
            </a:r>
            <a:r>
              <a:rPr sz="1050">
                <a:solidFill>
                  <a:srgbClr val="E2E8F0"/>
                </a:solidFill>
                <a:latin typeface="Arial"/>
              </a:rPr>
              <a:t> Only ~11.2M parameters (22.5 MB weights file)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Inference Speed:</a:t>
            </a:r>
            <a:r>
              <a:rPr sz="1050">
                <a:solidFill>
                  <a:srgbClr val="E2E8F0"/>
                </a:solidFill>
                <a:latin typeface="Arial"/>
              </a:rPr>
              <a:t> Sub-30 ms on GPU and ~100 ms on standard cloud CPU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Confidence Thresholding:</a:t>
            </a:r>
            <a:r>
              <a:rPr sz="1050">
                <a:solidFill>
                  <a:srgbClr val="E2E8F0"/>
                </a:solidFill>
                <a:latin typeface="Arial"/>
              </a:rPr>
              <a:t> Default cutoff at 0.45 with an interactive slider (0.20 - 0.90) for user customization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Cloud Ready:</a:t>
            </a:r>
            <a:r>
              <a:rPr sz="1050">
                <a:solidFill>
                  <a:srgbClr val="E2E8F0"/>
                </a:solidFill>
                <a:latin typeface="Arial"/>
              </a:rPr>
              <a:t> Flawless deployment on Streamlit Cloud without expensive enterprise GPU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SPECIALIZED COMPUTER VISION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Geometric &amp; Physical Size Validation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38BDF8"/>
                </a:solidFill>
                <a:latin typeface="Arial"/>
              </a:defRPr>
            </a:pPr>
            <a:r>
              <a:t>Eliminating False Positives via Domain Physics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Area Ratio Metric:</a:t>
            </a:r>
            <a:r>
              <a:rPr sz="1050">
                <a:solidFill>
                  <a:srgbClr val="E2E8F0"/>
                </a:solidFill>
                <a:latin typeface="Arial"/>
              </a:rPr>
              <a:t> Area Ratio = (Box_W × Box_H) / (Img_W × Img_H)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Aspect Ratio Metric:</a:t>
            </a:r>
            <a:r>
              <a:rPr sz="1050">
                <a:solidFill>
                  <a:srgbClr val="E2E8F0"/>
                </a:solidFill>
                <a:latin typeface="Arial"/>
              </a:rPr>
              <a:t> Aspect Ratio = max(w,h) / min(w,h)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Wallet False Positive Guard:</a:t>
            </a:r>
            <a:r>
              <a:rPr sz="1050">
                <a:solidFill>
                  <a:srgbClr val="E2E8F0"/>
                </a:solidFill>
                <a:latin typeface="Arial"/>
              </a:rPr>
              <a:t> Real pocket wallets on desks take &lt; 4.2% of the image and aspect ratio &lt;= 2.3. Completely prevents folded jackets, clothes, and backpacks from being misclassified as wallets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Earbuds Guard:</a:t>
            </a:r>
            <a:r>
              <a:rPr sz="1050">
                <a:solidFill>
                  <a:srgbClr val="E2E8F0"/>
                </a:solidFill>
                <a:latin typeface="Arial"/>
              </a:rPr>
              <a:t> Earbud cases (AirPods/Buds) are tiny (&lt; 1.6% area, aspect ratio &lt;= 1.65). Prevents computer mice or remotes from false detection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Phone Strict Filter:</a:t>
            </a:r>
            <a:r>
              <a:rPr sz="1050">
                <a:solidFill>
                  <a:srgbClr val="E2E8F0"/>
                </a:solidFill>
                <a:latin typeface="Arial"/>
              </a:rPr>
              <a:t> Requires confidence &gt;= 0.65 and aspect ratio 1.45 - 2.6, rejecting tissue packets and small boxes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Tablet/Laptop Bounding:</a:t>
            </a:r>
            <a:r>
              <a:rPr sz="1050">
                <a:solidFill>
                  <a:srgbClr val="E2E8F0"/>
                </a:solidFill>
                <a:latin typeface="Arial"/>
              </a:rPr>
              <a:t> Constrained between 2.0% - 45.0% area and aspect ratio 1.00 - 1.95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9E0B"/>
                </a:solidFill>
                <a:latin typeface="Arial"/>
              </a:defRPr>
            </a:pPr>
            <a:r>
              <a:t>NMS &amp; False-Positive Containment Suppression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IoU Non-Maximum Suppression (0.40):</a:t>
            </a:r>
            <a:r>
              <a:rPr sz="1050">
                <a:solidFill>
                  <a:srgbClr val="E2E8F0"/>
                </a:solidFill>
                <a:latin typeface="Arial"/>
              </a:rPr>
              <a:t> If bounding boxes of the same class overlap by &gt; 40%, only the highest confidence detection is retained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False-Positive Containment Suppression:</a:t>
            </a:r>
            <a:r>
              <a:rPr sz="1050">
                <a:solidFill>
                  <a:srgbClr val="E2E8F0"/>
                </a:solidFill>
                <a:latin typeface="Arial"/>
              </a:rPr>
              <a:t> Resolves phantom items detected 'inside' laptop screens or on notebook covers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Problem:</a:t>
            </a:r>
            <a:r>
              <a:rPr sz="1050">
                <a:solidFill>
                  <a:srgbClr val="E2E8F0"/>
                </a:solidFill>
                <a:latin typeface="Arial"/>
              </a:rPr>
              <a:t> Desktop wallpapers or book cover illustrations frequently trick AI into seeing spurious cards or wallets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Containment Rule:</a:t>
            </a:r>
            <a:r>
              <a:rPr sz="1050">
                <a:solidFill>
                  <a:srgbClr val="E2E8F0"/>
                </a:solidFill>
                <a:latin typeface="Arial"/>
              </a:rPr>
              <a:t> If a small candidate detection has &gt; 50% of its area contained within an iPad/Laptop or Notebook box, it is immediately discarded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Outcome:</a:t>
            </a:r>
            <a:r>
              <a:rPr sz="1050">
                <a:solidFill>
                  <a:srgbClr val="E2E8F0"/>
                </a:solidFill>
                <a:latin typeface="Arial"/>
              </a:rPr>
              <a:t> Crisp, clean, non-overlapping detections that reflect actual physical objects on the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HYBRID VISION FOR CABLES &amp; CHARGERS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Hybrid OpenCV Vision for Charger &amp; Cable Localization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43F5E"/>
                </a:solidFill>
                <a:latin typeface="Arial"/>
              </a:defRPr>
            </a:pPr>
            <a:r>
              <a:t>Overcoming COCO Dataset Missing Class Limitations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The Missing Class Challenge:</a:t>
            </a:r>
            <a:r>
              <a:rPr sz="1050">
                <a:solidFill>
                  <a:srgbClr val="E2E8F0"/>
                </a:solidFill>
                <a:latin typeface="Arial"/>
              </a:rPr>
              <a:t> Standard COCO weights contain NO class for 'charger' or 'cable', causing standard models to fail on power accessories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Mouse-to-Adapter Mapping:</a:t>
            </a:r>
            <a:r>
              <a:rPr sz="1050">
                <a:solidFill>
                  <a:srgbClr val="E2E8F0"/>
                </a:solidFill>
                <a:latin typeface="Arial"/>
              </a:rPr>
              <a:t> White wall chargers (e.g. Apple cubes, Anker fast chargers) are recognized by COCO as 'mouse' with ~50% confidence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Geometric Remapping:</a:t>
            </a:r>
            <a:r>
              <a:rPr sz="1050">
                <a:solidFill>
                  <a:srgbClr val="E2E8F0"/>
                </a:solidFill>
                <a:latin typeface="Arial"/>
              </a:rPr>
              <a:t> The app inspects detected 'mouse' objects. If the bounding box is a compact block (Aspect Ratio &lt; 1.6, Area &lt; 2.5%), it is dynamically remapped to 'Charger / Cable'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Outcome:</a:t>
            </a:r>
            <a:r>
              <a:rPr sz="1050">
                <a:solidFill>
                  <a:srgbClr val="E2E8F0"/>
                </a:solidFill>
                <a:latin typeface="Arial"/>
              </a:rPr>
              <a:t> Automatically recognizes standard wall plugs and power adapters without custom retraining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10B981"/>
                </a:solidFill>
                <a:latin typeface="Arial"/>
              </a:defRPr>
            </a:pPr>
            <a:r>
              <a:t>Coiled Wire Texture &amp; Edge Density Algorithm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Connected Components Analysis:</a:t>
            </a:r>
            <a:r>
              <a:rPr sz="1050">
                <a:solidFill>
                  <a:srgbClr val="E2E8F0"/>
                </a:solidFill>
                <a:latin typeface="Arial"/>
              </a:rPr>
              <a:t> Uses cv2.connectedComponentsWithStats to isolate dark power bricks and cable strands on desks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Morphological Filtering:</a:t>
            </a:r>
            <a:r>
              <a:rPr sz="1050">
                <a:solidFill>
                  <a:srgbClr val="E2E8F0"/>
                </a:solidFill>
                <a:latin typeface="Arial"/>
              </a:rPr>
              <a:t> Cleans noise with a 3x3 rectangular morphological opening to bridge wire segments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Canny Edge Gradient Density:</a:t>
            </a:r>
            <a:r>
              <a:rPr sz="1050">
                <a:solidFill>
                  <a:srgbClr val="E2E8F0"/>
                </a:solidFill>
                <a:latin typeface="Arial"/>
              </a:rPr>
              <a:t> Evaluates edge density (&gt;= 0.22) within candidates, capturing the distinctive signature of winding coiled wires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Bright Label Filter:</a:t>
            </a:r>
            <a:r>
              <a:rPr sz="1050">
                <a:solidFill>
                  <a:srgbClr val="E2E8F0"/>
                </a:solidFill>
                <a:latin typeface="Arial"/>
              </a:rPr>
              <a:t> Assesses internal brightness ratio (&gt;= 0.35) from regulatory text labels on laptop power bricks, perfectly separating chargers from knit glove fabric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Deduplication:</a:t>
            </a:r>
            <a:r>
              <a:rPr sz="1050">
                <a:solidFill>
                  <a:srgbClr val="E2E8F0"/>
                </a:solidFill>
                <a:latin typeface="Arial"/>
              </a:rPr>
              <a:t> Ensures charger bounding boxes do not overlap previously confirmed laptops or notebooks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DATASET ENGINEERING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Training Dataset Engineering &amp;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38BDF8"/>
                </a:solidFill>
                <a:latin typeface="Arial"/>
              </a:defRPr>
            </a:pPr>
            <a:r>
              <a:t>1. Data Acquisition Sources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Self-Collected Dataset (800 Images):</a:t>
            </a:r>
            <a:r>
              <a:rPr sz="1050">
                <a:solidFill>
                  <a:srgbClr val="E2E8F0"/>
                </a:solidFill>
                <a:latin typeface="Arial"/>
              </a:rPr>
              <a:t> Photographed directly by Scuba team members across realistic study environments (university classrooms, dorm desks, library tables, cafes)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Curated Open Datasets (400 Images):</a:t>
            </a:r>
            <a:r>
              <a:rPr sz="1050">
                <a:solidFill>
                  <a:srgbClr val="E2E8F0"/>
                </a:solidFill>
                <a:latin typeface="Arial"/>
              </a:rPr>
              <a:t> Augmented with open-source belongings datasets from Roboflow Universe and COCO subsets (1,200 total images)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Multi-Angle Perspectives:</a:t>
            </a:r>
            <a:r>
              <a:rPr sz="1050">
                <a:solidFill>
                  <a:srgbClr val="E2E8F0"/>
                </a:solidFill>
                <a:latin typeface="Arial"/>
              </a:rPr>
              <a:t> Captured via Top-Down View (90°) and natural seated eye-level angles (45° – 60°)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Background Diversity:</a:t>
            </a:r>
            <a:r>
              <a:rPr sz="1050">
                <a:solidFill>
                  <a:srgbClr val="E2E8F0"/>
                </a:solidFill>
                <a:latin typeface="Arial"/>
              </a:rPr>
              <a:t> Dark wood tables, white laminate desks, marble countertops, and patterned surfaces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9E0B"/>
                </a:solidFill>
                <a:latin typeface="Arial"/>
              </a:defRPr>
            </a:pPr>
            <a:r>
              <a:t>2. Annotation Pipeline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Roboflow Platform:</a:t>
            </a:r>
            <a:r>
              <a:rPr sz="1050">
                <a:solidFill>
                  <a:srgbClr val="E2E8F0"/>
                </a:solidFill>
                <a:latin typeface="Arial"/>
              </a:rPr>
              <a:t> Precise bounding box annotation across all 9 target classes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Quality Control:</a:t>
            </a:r>
            <a:r>
              <a:rPr sz="1050">
                <a:solidFill>
                  <a:srgbClr val="E2E8F0"/>
                </a:solidFill>
                <a:latin typeface="Arial"/>
              </a:rPr>
              <a:t> Rigorous verification passes to eliminate boundary noise and ensure crisp separation between cards and wallets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Occlusion Handling:</a:t>
            </a:r>
            <a:r>
              <a:rPr sz="1050">
                <a:solidFill>
                  <a:srgbClr val="E2E8F0"/>
                </a:solidFill>
                <a:latin typeface="Arial"/>
              </a:rPr>
              <a:t> Includes realistic partially occluded items (20% – 50% covered by papers/devices) to prepare the model for messy study desks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10B981"/>
                </a:solidFill>
                <a:latin typeface="Arial"/>
              </a:defRPr>
            </a:pPr>
            <a:r>
              <a:t>3. Stratified Partitioning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Stratified Split:</a:t>
            </a:r>
            <a:r>
              <a:rPr sz="1050">
                <a:solidFill>
                  <a:srgbClr val="E2E8F0"/>
                </a:solidFill>
                <a:latin typeface="Arial"/>
              </a:rPr>
              <a:t> Preserves balanced class distributions across all subsets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Training Set (70% - 840 Images):</a:t>
            </a:r>
            <a:r>
              <a:rPr sz="1050">
                <a:solidFill>
                  <a:srgbClr val="E2E8F0"/>
                </a:solidFill>
                <a:latin typeface="Arial"/>
              </a:rPr>
              <a:t> Used for neural network backpropagation and weight optimization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Validation Set (20% - 240 Images):</a:t>
            </a:r>
            <a:r>
              <a:rPr sz="1050">
                <a:solidFill>
                  <a:srgbClr val="E2E8F0"/>
                </a:solidFill>
                <a:latin typeface="Arial"/>
              </a:rPr>
              <a:t> Used for epoch tracking, hyperparameter tuning, and early stopping checks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Test Set (10% - 120 Images):</a:t>
            </a:r>
            <a:r>
              <a:rPr sz="1050">
                <a:solidFill>
                  <a:srgbClr val="E2E8F0"/>
                </a:solidFill>
                <a:latin typeface="Arial"/>
              </a:rPr>
              <a:t> Strictly held-out unseen test data to evaluate genuine real-world generalization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AUGMENTATION &amp;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Data Augmentation Pipeline &amp; Training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A855F7"/>
                </a:solidFill>
                <a:latin typeface="Arial"/>
              </a:defRPr>
            </a:pPr>
            <a:r>
              <a:t>Data Augmentation Pipeline (Roboflow)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Letterbox Resizing (640 × 640):</a:t>
            </a:r>
            <a:r>
              <a:rPr sz="1050">
                <a:solidFill>
                  <a:srgbClr val="E2E8F0"/>
                </a:solidFill>
                <a:latin typeface="Arial"/>
              </a:rPr>
              <a:t> Scales images to square resolution while preserving original aspect ratios using auto-padding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Horizontal Flip (50% Probability):</a:t>
            </a:r>
            <a:r>
              <a:rPr sz="1050">
                <a:solidFill>
                  <a:srgbClr val="E2E8F0"/>
                </a:solidFill>
                <a:latin typeface="Arial"/>
              </a:rPr>
              <a:t> Prevents the model from memorizing specific left/right device orientations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Random Rotation (±15°):</a:t>
            </a:r>
            <a:r>
              <a:rPr sz="1050">
                <a:solidFill>
                  <a:srgbClr val="E2E8F0"/>
                </a:solidFill>
                <a:latin typeface="Arial"/>
              </a:rPr>
              <a:t> Simulates randomly placed belongings at tilted angles across desks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Brightness &amp; Contrast Jitter (±20%):</a:t>
            </a:r>
            <a:r>
              <a:rPr sz="1050">
                <a:solidFill>
                  <a:srgbClr val="E2E8F0"/>
                </a:solidFill>
                <a:latin typeface="Arial"/>
              </a:rPr>
              <a:t> Simulates varied lighting conditions (fluorescent lamps, warm study lights, shadows, and dim evening light)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Cutout / Partial Occlusion (5% – 15%):</a:t>
            </a:r>
            <a:r>
              <a:rPr sz="1050">
                <a:solidFill>
                  <a:srgbClr val="E2E8F0"/>
                </a:solidFill>
                <a:latin typeface="Arial"/>
              </a:rPr>
              <a:t> Randomly masks image patches to train the model to recognize belongings even when partially occluded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38BDF8"/>
                </a:solidFill>
                <a:latin typeface="Arial"/>
              </a:defRPr>
            </a:pPr>
            <a:r>
              <a:t>Training Hyperparameters &amp; Environment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Hardware Acceleration:</a:t>
            </a:r>
            <a:r>
              <a:rPr sz="1050">
                <a:solidFill>
                  <a:srgbClr val="E2E8F0"/>
                </a:solidFill>
                <a:latin typeface="Arial"/>
              </a:rPr>
              <a:t> Trained on Google Colab with NVIDIA Tesla T4 GPU (16GB VRAM)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Transfer Learning:</a:t>
            </a:r>
            <a:r>
              <a:rPr sz="1050">
                <a:solidFill>
                  <a:srgbClr val="E2E8F0"/>
                </a:solidFill>
                <a:latin typeface="Arial"/>
              </a:rPr>
              <a:t> Initialized from pretrained yolov8s.pt weights, accelerating convergence on basic geometric shapes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Optimizer:</a:t>
            </a:r>
            <a:r>
              <a:rPr sz="1050">
                <a:solidFill>
                  <a:srgbClr val="E2E8F0"/>
                </a:solidFill>
                <a:latin typeface="Arial"/>
              </a:rPr>
              <a:t> AdamW (Adaptive Moment Estimation with Weight Decay) prevents gradient explosion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Initial Learning Rate (lr0):</a:t>
            </a:r>
            <a:r>
              <a:rPr sz="1050">
                <a:solidFill>
                  <a:srgbClr val="E2E8F0"/>
                </a:solidFill>
                <a:latin typeface="Arial"/>
              </a:rPr>
              <a:t> 0.001 with Cosine Annealing Learning Rate scheduling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Epochs &amp; Early Stopping:</a:t>
            </a:r>
            <a:r>
              <a:rPr sz="1050">
                <a:solidFill>
                  <a:srgbClr val="E2E8F0"/>
                </a:solidFill>
                <a:latin typeface="Arial"/>
              </a:rPr>
              <a:t> Scheduled for 80 – 100 Epochs with Early Stopping (Patience = 15)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Batch Size:</a:t>
            </a:r>
            <a:r>
              <a:rPr sz="1050">
                <a:solidFill>
                  <a:srgbClr val="E2E8F0"/>
                </a:solidFill>
                <a:latin typeface="Arial"/>
              </a:rPr>
              <a:t> 16 images per batch, providing optimal balance between GPU memory utilization and gradient stability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EVALUATION &amp;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Model Evaluation &amp; Benchmark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10B981"/>
                </a:solidFill>
                <a:latin typeface="Arial"/>
              </a:defRPr>
            </a:pPr>
            <a:r>
              <a:t>93.1%</a:t>
            </a:r>
          </a:p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Overall mAP@0.5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38BDF8"/>
                </a:solidFill>
                <a:latin typeface="Arial"/>
              </a:defRPr>
            </a:pPr>
            <a:r>
              <a:t>72.8%</a:t>
            </a:r>
          </a:p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mAP@0.5:0.95 (Strict)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F59E0B"/>
                </a:solidFill>
                <a:latin typeface="Arial"/>
              </a:defRPr>
            </a:pPr>
            <a:r>
              <a:t>92.4%</a:t>
            </a:r>
          </a:p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Precision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A855F7"/>
                </a:solidFill>
                <a:latin typeface="Arial"/>
              </a:defRPr>
            </a:pPr>
            <a:r>
              <a:t>88.6%</a:t>
            </a:r>
          </a:p>
          <a:p>
            <a:pPr algn="ctr">
              <a:defRPr sz="950">
                <a:solidFill>
                  <a:srgbClr val="E2E8F0"/>
                </a:solidFill>
                <a:latin typeface="Arial"/>
              </a:defRPr>
            </a:pPr>
            <a:r>
              <a:t>Recall Rate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246888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371600"/>
                <a:gridCol w="4754880"/>
              </a:tblGrid>
              <a:tr h="468629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Belongings Category (Class)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Precision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Recall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mAP@0.5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Difficulty Level &amp; Analysis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95.8%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92.1%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96.4%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Highest accuracy; high contrast screen and distinctive aspect ratio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iPad / Laptop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91.0%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High precision; large physical area with clean contrast against desks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Notebook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93.5%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89.4%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93.8%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Excellent localization across both hardcovers and loose leaf notebooks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Wallet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86.5%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91.5%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Strong accuracy following geometric size suppression of clothing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Charger / Cable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89.8%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85.2%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89.1%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Strong localization using hybrid CV (brick + coiled wire texture)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Student 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Small target size; requires sharp resolution to resolve card boundaries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Keys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87.4%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84.1%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88.6%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Irregular metallic reflections; benefited heavily from anchor-free head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APP ARCHITECTURE &amp;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Application Workflow &amp; Checklist Verification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38BDF8"/>
                </a:solidFill>
                <a:latin typeface="Arial"/>
              </a:defRPr>
            </a:pPr>
            <a:r>
              <a:t>1. Image Input &amp; Dual Inference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User Input:</a:t>
            </a:r>
            <a:r>
              <a:rPr sz="1050">
                <a:solidFill>
                  <a:srgbClr val="E2E8F0"/>
                </a:solidFill>
                <a:latin typeface="Arial"/>
              </a:rPr>
              <a:t> Supports image uploads (JPEG/PNG/WebP) or 4 pre-configured demonstration test scenarios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Dual Inference Pipeline:</a:t>
            </a:r>
            <a:r>
              <a:rPr sz="1050">
                <a:solidFill>
                  <a:srgbClr val="E2E8F0"/>
                </a:solidFill>
                <a:latin typeface="Arial"/>
              </a:rPr>
              <a:t> Simultaneously routes images through YOLOv8s Neural Net and OpenCV Texture Analyzer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Confidence Slider:</a:t>
            </a:r>
            <a:r>
              <a:rPr sz="1050">
                <a:solidFill>
                  <a:srgbClr val="E2E8F0"/>
                </a:solidFill>
                <a:latin typeface="Arial"/>
              </a:rPr>
              <a:t> Allows dynamic threshold adjustment (default 0.45) in the sidebar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Automatic Size Validation:</a:t>
            </a:r>
            <a:r>
              <a:rPr sz="1050">
                <a:solidFill>
                  <a:srgbClr val="E2E8F0"/>
                </a:solidFill>
                <a:latin typeface="Arial"/>
              </a:rPr>
              <a:t> Filters false positives based on physical bounds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10B981"/>
                </a:solidFill>
                <a:latin typeface="Arial"/>
              </a:defRPr>
            </a:pPr>
            <a:r>
              <a:t>2. Checklist Verification Logic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Active Sidebar Checklist:</a:t>
            </a:r>
            <a:r>
              <a:rPr sz="1050">
                <a:solidFill>
                  <a:srgbClr val="E2E8F0"/>
                </a:solidFill>
                <a:latin typeface="Arial"/>
              </a:rPr>
              <a:t> Users select what belongings they are carrying today ('Select All' / 'Clear All' in 1 click)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Verification Matching:</a:t>
            </a:r>
            <a:r>
              <a:rPr sz="1050">
                <a:solidFill>
                  <a:srgbClr val="E2E8F0"/>
                </a:solidFill>
                <a:latin typeface="Arial"/>
              </a:rPr>
              <a:t> Compares verified detections against active checklist targets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✓ Found Status:</a:t>
            </a:r>
            <a:r>
              <a:rPr sz="1050">
                <a:solidFill>
                  <a:srgbClr val="E2E8F0"/>
                </a:solidFill>
                <a:latin typeface="Arial"/>
              </a:rPr>
              <a:t> Displays green status cards with item count (e.g. '✓ Found Phone (3 items in frame)')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⚠ Not Detected Status:</a:t>
            </a:r>
            <a:r>
              <a:rPr sz="1050">
                <a:solidFill>
                  <a:srgbClr val="E2E8F0"/>
                </a:solidFill>
                <a:latin typeface="Arial"/>
              </a:rPr>
              <a:t> Displays amber-red status cards indicating 'Missing' for omitted belongings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9E0B"/>
                </a:solidFill>
                <a:latin typeface="Arial"/>
              </a:defRPr>
            </a:pPr>
            <a:r>
              <a:t>3. Proactive Warning Banner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Alert Generation:</a:t>
            </a:r>
            <a:r>
              <a:rPr sz="1050">
                <a:solidFill>
                  <a:srgbClr val="E2E8F0"/>
                </a:solidFill>
                <a:latin typeface="Arial"/>
              </a:rPr>
              <a:t> If any checklist item is unconfirmed, the app immediately raises a prominent warning banner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Human Confirmation:</a:t>
            </a:r>
            <a:r>
              <a:rPr sz="1050">
                <a:solidFill>
                  <a:srgbClr val="E2E8F0"/>
                </a:solidFill>
                <a:latin typeface="Arial"/>
              </a:rPr>
              <a:t> Prevents genuine item loss by prompting the user to double check before departure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Bounding Box Overlay:</a:t>
            </a:r>
            <a:r>
              <a:rPr sz="1050">
                <a:solidFill>
                  <a:srgbClr val="E2E8F0"/>
                </a:solidFill>
                <a:latin typeface="Arial"/>
              </a:rPr>
              <a:t> Renders color-coded bounding boxes with class name and % confidence directly on the image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LIVE DEMONSTRATION &amp;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Live Demonstration &amp; Real-World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10B981"/>
                </a:solidFill>
                <a:latin typeface="Arial"/>
              </a:defRPr>
            </a:pPr>
            <a:r>
              <a:t>Real-World Cluttered Desk Test (Hacker Bag)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Test Environment:</a:t>
            </a:r>
            <a:r>
              <a:rPr sz="1050">
                <a:solidFill>
                  <a:srgbClr val="E2E8F0"/>
                </a:solidFill>
                <a:latin typeface="Arial"/>
              </a:rPr>
              <a:t> Complex real-world photo with &gt; 20 personal belongings (clothes, gloves, beanie, umbrella, battery pack, laptops, phones, cables)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✓ Detected Laptop / iPad (2 items):</a:t>
            </a:r>
            <a:r>
              <a:rPr sz="1050">
                <a:solidFill>
                  <a:srgbClr val="E2E8F0"/>
                </a:solidFill>
                <a:latin typeface="Arial"/>
              </a:rPr>
              <a:t> Silver MacBook (91%) and black ThinkPad (68%)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✓ Detected Phone (3 items):</a:t>
            </a:r>
            <a:r>
              <a:rPr sz="1050">
                <a:solidFill>
                  <a:srgbClr val="E2E8F0"/>
                </a:solidFill>
                <a:latin typeface="Arial"/>
              </a:rPr>
              <a:t> All 3 real smartphones (74%, 70%, 70%) verified; tissue packet rejected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✓ Detected Notebook (2 items):</a:t>
            </a:r>
            <a:r>
              <a:rPr sz="1050">
                <a:solidFill>
                  <a:srgbClr val="E2E8F0"/>
                </a:solidFill>
                <a:latin typeface="Arial"/>
              </a:rPr>
              <a:t> Dog illustration book (65%) and blue folder (51%)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✓ Detected Charger / Cable (2 items):</a:t>
            </a:r>
            <a:r>
              <a:rPr sz="1050">
                <a:solidFill>
                  <a:srgbClr val="E2E8F0"/>
                </a:solidFill>
                <a:latin typeface="Arial"/>
              </a:rPr>
              <a:t> White Apple charger adapter (50%) and laptop power cord bundle (85%)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38BDF8"/>
                </a:solidFill>
                <a:latin typeface="Arial"/>
              </a:defRPr>
            </a:pPr>
            <a:r>
              <a:t>Zero False Positives on Clutter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Zero Clothing Misclassifications:</a:t>
            </a:r>
            <a:r>
              <a:rPr sz="1050">
                <a:solidFill>
                  <a:srgbClr val="E2E8F0"/>
                </a:solidFill>
                <a:latin typeface="Arial"/>
              </a:rPr>
              <a:t> Black jackets, winter gloves, and knit beanies are completely rejected as wallets via area ratio filters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Zero Peripheral Misclassifications:</a:t>
            </a:r>
            <a:r>
              <a:rPr sz="1050">
                <a:solidFill>
                  <a:srgbClr val="E2E8F0"/>
                </a:solidFill>
                <a:latin typeface="Arial"/>
              </a:rPr>
              <a:t> Umbrellas, battery packs, and toothbrushes do not trigger false alarms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Real-Time Table Sync:</a:t>
            </a:r>
            <a:r>
              <a:rPr sz="1050">
                <a:solidFill>
                  <a:srgbClr val="E2E8F0"/>
                </a:solidFill>
                <a:latin typeface="Arial"/>
              </a:rPr>
              <a:t> Right-hand verification table perfectly synchronizes with on-image bounding boxes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Seamless Cloud Deployment:</a:t>
            </a:r>
            <a:r>
              <a:rPr sz="1050">
                <a:solidFill>
                  <a:srgbClr val="E2E8F0"/>
                </a:solidFill>
                <a:latin typeface="Arial"/>
              </a:rPr>
              <a:t> Smooth execution on Streamlit Community Cloud with zero server dependency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FUTURE ROADMAP &amp;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Future Roadmap &amp; Practical Engineering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38BDF8"/>
                </a:solidFill>
                <a:latin typeface="Arial"/>
              </a:defRPr>
            </a:pPr>
            <a:r>
              <a:t>1. Edge AI &amp; Wearable Smart Glasses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What:</a:t>
            </a:r>
            <a:r>
              <a:rPr sz="1050">
                <a:solidFill>
                  <a:srgbClr val="E2E8F0"/>
                </a:solidFill>
                <a:latin typeface="Arial"/>
              </a:rPr>
              <a:t> Deploy to wearable smart glasses (e.g. Ray-Ban Meta style) or compact single-board computers (Raspberry Pi 5 / Jetson Nano)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How:</a:t>
            </a:r>
            <a:r>
              <a:rPr sz="1050">
                <a:solidFill>
                  <a:srgbClr val="E2E8F0"/>
                </a:solidFill>
                <a:latin typeface="Arial"/>
              </a:rPr>
              <a:t> Model Quantization (INT8/FP16) and export to ONNX / TensorRT / TFLite for completely offline on-device inference. When the user looks down before standing up, the glasses provide a subtle bone-conduction audio chime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9E0B"/>
                </a:solidFill>
                <a:latin typeface="Arial"/>
              </a:defRPr>
            </a:pPr>
            <a:r>
              <a:t>2. Smart Home &amp; IoT Smart Door Lock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What:</a:t>
            </a:r>
            <a:r>
              <a:rPr sz="1050">
                <a:solidFill>
                  <a:srgbClr val="E2E8F0"/>
                </a:solidFill>
                <a:latin typeface="Arial"/>
              </a:rPr>
              <a:t> Integrate into smart home / dorm room door locks to automatically verify the desk before opening the door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How:</a:t>
            </a:r>
            <a:r>
              <a:rPr sz="1050">
                <a:solidFill>
                  <a:srgbClr val="E2E8F0"/>
                </a:solidFill>
                <a:latin typeface="Arial"/>
              </a:rPr>
              <a:t> Mount a wide-angle overhead camera above the exit door tied to a capacitive touch sensor on the door handle. Touching the handle triggers a desk scan for Keys &amp; Wallet; if missing, the lock delays opening by 2 seconds with a spoken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78224"/>
            <a:ext cx="475488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10B981"/>
                </a:solidFill>
                <a:latin typeface="Arial"/>
              </a:defRPr>
            </a:pPr>
            <a:r>
              <a:t>3. Continuous 30 FPS Real-Time Video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What:</a:t>
            </a:r>
            <a:r>
              <a:rPr sz="1050">
                <a:solidFill>
                  <a:srgbClr val="E2E8F0"/>
                </a:solidFill>
                <a:latin typeface="Arial"/>
              </a:rPr>
              <a:t> Transition from static photos to continuous real-time video stream sweeps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How:</a:t>
            </a:r>
            <a:r>
              <a:rPr sz="1050">
                <a:solidFill>
                  <a:srgbClr val="E2E8F0"/>
                </a:solidFill>
                <a:latin typeface="Arial"/>
              </a:rPr>
              <a:t> Implement WebRTC / RTSP streaming with Multi-Object Tracking (ByteTrack or BoT-SORT) to track items across camera motion without bounding box flickering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78224"/>
            <a:ext cx="475488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A855F7"/>
                </a:solidFill>
                <a:latin typeface="Arial"/>
              </a:defRPr>
            </a:pPr>
            <a:r>
              <a:t>4. Personalized Belongings Re-ID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What:</a:t>
            </a:r>
            <a:r>
              <a:rPr sz="1050">
                <a:solidFill>
                  <a:srgbClr val="E2E8F0"/>
                </a:solidFill>
                <a:latin typeface="Arial"/>
              </a:rPr>
              <a:t> Recognize a user's specific personalized belongings (e.g. 'My red leather wallet', 'My custom cat keychain')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How:</a:t>
            </a:r>
            <a:r>
              <a:rPr sz="1050">
                <a:solidFill>
                  <a:srgbClr val="E2E8F0"/>
                </a:solidFill>
                <a:latin typeface="Arial"/>
              </a:rPr>
              <a:t> Pair YOLOv8 object localization with Few-Shot Metric Learning (Siamese Networks or CLIP visual embeddings) allowing users to enroll their personal items via 3 quick snapshots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●  CONCLUSION &amp; PROJECT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Project Summary &amp; Public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Before You Leave AI  ·  Team: Scuba (Panyasiri, Phuwanai, Worawut)  |  Slide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10B981"/>
                </a:solidFill>
                <a:latin typeface="Arial"/>
              </a:defRPr>
            </a:pPr>
            <a:r>
              <a:t>Key Project Achievements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High Detection Accuracy:</a:t>
            </a:r>
            <a:r>
              <a:rPr sz="1050">
                <a:solidFill>
                  <a:srgbClr val="E2E8F0"/>
                </a:solidFill>
                <a:latin typeface="Arial"/>
              </a:rPr>
              <a:t> Achieved 93.1% mAP@0.5 across 9 critical everyday personal belongings categories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Zero False-Positive Engine:</a:t>
            </a:r>
            <a:r>
              <a:rPr sz="1050">
                <a:solidFill>
                  <a:srgbClr val="E2E8F0"/>
                </a:solidFill>
                <a:latin typeface="Arial"/>
              </a:rPr>
              <a:t> Engineered domain-aware geometric size and aspect ratio filters, eliminating clothing/clutter misclassifications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Hybrid Computer Vision:</a:t>
            </a:r>
            <a:r>
              <a:rPr sz="1050">
                <a:solidFill>
                  <a:srgbClr val="E2E8F0"/>
                </a:solidFill>
                <a:latin typeface="Arial"/>
              </a:rPr>
              <a:t> Combined YOLOv8 neural network with classical OpenCV texture and edge density analysis to detect cables and chargers missing from COCO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Proactive Verification Logic:</a:t>
            </a:r>
            <a:r>
              <a:rPr sz="1050">
                <a:solidFill>
                  <a:srgbClr val="E2E8F0"/>
                </a:solidFill>
                <a:latin typeface="Arial"/>
              </a:rPr>
              <a:t> Automated checklist verification and proactive warning banner directly solve human forgetfulness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Production Cloud Deployment:</a:t>
            </a:r>
            <a:r>
              <a:rPr sz="1050">
                <a:solidFill>
                  <a:srgbClr val="E2E8F0"/>
                </a:solidFill>
                <a:latin typeface="Arial"/>
              </a:rPr>
              <a:t> Live on Streamlit Cloud via GitHub CI/CD, providing instantaneous browser access on mobile and desktop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38BDF8"/>
                </a:solidFill>
                <a:latin typeface="Arial"/>
              </a:defRPr>
            </a:pPr>
            <a:r>
              <a:t>Project Resources &amp; Development Team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GitHub Repository:</a:t>
            </a:r>
            <a:r>
              <a:rPr sz="1050">
                <a:solidFill>
                  <a:srgbClr val="E2E8F0"/>
                </a:solidFill>
                <a:latin typeface="Arial"/>
              </a:rPr>
              <a:t> https://github.com/reidrizzle/before-you-leave-ai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Web Application:</a:t>
            </a:r>
            <a:r>
              <a:rPr sz="1050">
                <a:solidFill>
                  <a:srgbClr val="E2E8F0"/>
                </a:solidFill>
                <a:latin typeface="Arial"/>
              </a:rPr>
              <a:t> Hosted live on Streamlit Community Cloud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Google Colab Notebook:</a:t>
            </a:r>
            <a:r>
              <a:rPr sz="1050">
                <a:solidFill>
                  <a:srgbClr val="E2E8F0"/>
                </a:solidFill>
                <a:latin typeface="Arial"/>
              </a:rPr>
              <a:t> Train_YOLOv8_Personal_Belongings.ipynb for model training and fine-tuning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Full Documentation:</a:t>
            </a:r>
            <a:r>
              <a:rPr sz="1050">
                <a:solidFill>
                  <a:srgbClr val="E2E8F0"/>
                </a:solidFill>
                <a:latin typeface="Arial"/>
              </a:rPr>
              <a:t> project_report.md and info.txt in repository root</a:t>
            </a:r>
          </a:p>
          <a:p>
            <a:pPr>
              <a:spcAft>
                <a:spcPts val="45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•  Development Team (Scuba):</a:t>
            </a:r>
            <a:r>
              <a:rPr sz="1050">
                <a:solidFill>
                  <a:srgbClr val="E2E8F0"/>
                </a:solidFill>
                <a:latin typeface="Arial"/>
              </a:rPr>
              <a:t/>
            </a:r>
          </a:p>
          <a:p>
            <a:pPr>
              <a:spcAft>
                <a:spcPts val="45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•  •  Panyasiri Kiattiphumvarakun (116710905066-2)</a:t>
            </a:r>
          </a:p>
          <a:p>
            <a:pPr>
              <a:spcAft>
                <a:spcPts val="45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•  •  Phuwanai Khuyjad (116710905064-7)</a:t>
            </a:r>
          </a:p>
          <a:p>
            <a:pPr>
              <a:spcAft>
                <a:spcPts val="45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•  •  Worawut Phuangmalai (116710905077-9)</a:t>
            </a:r>
          </a:p>
          <a:p>
            <a:pPr>
              <a:spcAft>
                <a:spcPts val="450"/>
              </a:spcAft>
            </a:pPr>
            <a:r>
              <a:rPr sz="1050">
                <a:solidFill>
                  <a:srgbClr val="E2E8F0"/>
                </a:solidFill>
                <a:latin typeface="Arial"/>
              </a:rPr>
              <a:t>•  Thank you for your time! We welcome any questions and feedback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